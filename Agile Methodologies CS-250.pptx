
<file path=[Content_Types].xml><?xml version="1.0" encoding="utf-8"?>
<Types xmlns="http://schemas.openxmlformats.org/package/2006/content-types">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nny Nobrega" userId="fe1809a4a8a6eab6" providerId="LiveId" clId="{EFF0660A-472B-4475-AC14-40EB6D4CCEC0}"/>
    <pc:docChg chg="custSel modSld">
      <pc:chgData name="Kenny Nobrega" userId="fe1809a4a8a6eab6" providerId="LiveId" clId="{EFF0660A-472B-4475-AC14-40EB6D4CCEC0}" dt="2026-06-22T00:34:25.318" v="471" actId="20577"/>
      <pc:docMkLst>
        <pc:docMk/>
      </pc:docMkLst>
      <pc:sldChg chg="modSp mod">
        <pc:chgData name="Kenny Nobrega" userId="fe1809a4a8a6eab6" providerId="LiveId" clId="{EFF0660A-472B-4475-AC14-40EB6D4CCEC0}" dt="2026-06-22T00:30:09.830" v="284" actId="20577"/>
        <pc:sldMkLst>
          <pc:docMk/>
          <pc:sldMk cId="0" sldId="261"/>
        </pc:sldMkLst>
        <pc:spChg chg="mod">
          <ac:chgData name="Kenny Nobrega" userId="fe1809a4a8a6eab6" providerId="LiveId" clId="{EFF0660A-472B-4475-AC14-40EB6D4CCEC0}" dt="2026-06-22T00:30:09.830" v="284" actId="20577"/>
          <ac:spMkLst>
            <pc:docMk/>
            <pc:sldMk cId="0" sldId="261"/>
            <ac:spMk id="12" creationId="{00000000-0000-0000-0000-000000000000}"/>
          </ac:spMkLst>
        </pc:spChg>
      </pc:sldChg>
      <pc:sldChg chg="modSp mod">
        <pc:chgData name="Kenny Nobrega" userId="fe1809a4a8a6eab6" providerId="LiveId" clId="{EFF0660A-472B-4475-AC14-40EB6D4CCEC0}" dt="2026-06-22T00:34:25.318" v="471" actId="20577"/>
        <pc:sldMkLst>
          <pc:docMk/>
          <pc:sldMk cId="0" sldId="262"/>
        </pc:sldMkLst>
        <pc:spChg chg="mod">
          <ac:chgData name="Kenny Nobrega" userId="fe1809a4a8a6eab6" providerId="LiveId" clId="{EFF0660A-472B-4475-AC14-40EB6D4CCEC0}" dt="2026-06-22T00:34:25.318" v="471" actId="20577"/>
          <ac:spMkLst>
            <pc:docMk/>
            <pc:sldMk cId="0" sldId="262"/>
            <ac:spMk id="2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89293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Agile framework relies on collaboration between three primary roles. The Product Owner is responsible for maintaining the product backlog and ensuring the team focuses on the highest-value requirements. The Scrum Master facilitates Scrum activities and helps remove blockers that may impact progress. The Development Team is responsible for designing, developing, testing, and delivering working software throughout each sprint.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Agile SDLC follows an iterative approach where development occurs in smaller cycles known as sprints. Each phase contributes to delivering functional software while allowing feedback and improvements throughout the project. This flexibility helps teams adapt to changing requirements more effectively than traditional development approaches.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Waterfall model follows a structured sequence of phases that are completed one at a time. Each phase must generally be completed before moving to the next phase. While this approach provides clear documentation and planning, it can be less adaptable when project requirements change during development.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Agile and Waterfall represent two different approaches to software development. Agile emphasizes flexibility, collaboration, and continuous feedback, while Waterfall focuses on detailed planning and sequential execution. Agile is often preferred when requirements may change, whereas Waterfall is useful when requirements are clearly defined from the start.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Agile was well suited for the SNHU Travel project because requirements evolved throughout development. The iterative nature of Agile allowed the team to adjust priorities and incorporate stakeholder feedback without significantly impacting progress. Although Agile required consistent communication and collaboration, the benefits outweighed the challenges.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Selecting the appropriate software development methodology depends on several factors. Projects with stable requirements may benefit from Waterfall, while projects with changing requirements and active stakeholder involvement are often better suited for Agile. Organizations should evaluate project goals, risks, timelines, and team capabilities before selecting a methodology.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30"/>
        </a:solidFill>
        <a:effectLst/>
      </p:bgPr>
    </p:bg>
    <p:spTree>
      <p:nvGrpSpPr>
        <p:cNvPr id="1" name=""/>
        <p:cNvGrpSpPr/>
        <p:nvPr/>
      </p:nvGrpSpPr>
      <p:grpSpPr>
        <a:xfrm>
          <a:off x="0" y="0"/>
          <a:ext cx="0" cy="0"/>
          <a:chOff x="0" y="0"/>
          <a:chExt cx="0" cy="0"/>
        </a:xfrm>
      </p:grpSpPr>
      <p:sp>
        <p:nvSpPr>
          <p:cNvPr id="2" name="Shape 0"/>
          <p:cNvSpPr/>
          <p:nvPr/>
        </p:nvSpPr>
        <p:spPr>
          <a:xfrm rot="-480000">
            <a:off x="5943600" y="-457200"/>
            <a:ext cx="4114800" cy="2011680"/>
          </a:xfrm>
          <a:prstGeom prst="rect">
            <a:avLst/>
          </a:prstGeom>
          <a:solidFill>
            <a:srgbClr val="3B82F6">
              <a:alpha val="15000"/>
            </a:srgbClr>
          </a:solidFill>
          <a:ln/>
        </p:spPr>
        <p:txBody>
          <a:bodyPr/>
          <a:lstStyle/>
          <a:p>
            <a:endParaRPr lang="en-US"/>
          </a:p>
        </p:txBody>
      </p:sp>
      <p:sp>
        <p:nvSpPr>
          <p:cNvPr id="3" name="Shape 1"/>
          <p:cNvSpPr/>
          <p:nvPr/>
        </p:nvSpPr>
        <p:spPr>
          <a:xfrm rot="720000">
            <a:off x="-914400" y="3657600"/>
            <a:ext cx="3657600" cy="1828800"/>
          </a:xfrm>
          <a:prstGeom prst="rect">
            <a:avLst/>
          </a:prstGeom>
          <a:solidFill>
            <a:srgbClr val="3B82F6">
              <a:alpha val="10000"/>
            </a:srgbClr>
          </a:solidFill>
          <a:ln/>
        </p:spPr>
        <p:txBody>
          <a:bodyPr/>
          <a:lstStyle/>
          <a:p>
            <a:endParaRPr lang="en-US"/>
          </a:p>
        </p:txBody>
      </p:sp>
      <p:sp>
        <p:nvSpPr>
          <p:cNvPr id="4" name="Text 2"/>
          <p:cNvSpPr/>
          <p:nvPr/>
        </p:nvSpPr>
        <p:spPr>
          <a:xfrm>
            <a:off x="914400" y="1097280"/>
            <a:ext cx="7315200" cy="1645920"/>
          </a:xfrm>
          <a:prstGeom prst="rect">
            <a:avLst/>
          </a:prstGeom>
          <a:noFill/>
          <a:ln/>
        </p:spPr>
        <p:txBody>
          <a:bodyPr wrap="square" rtlCol="0" anchor="ctr"/>
          <a:lstStyle/>
          <a:p>
            <a:pPr marL="0" indent="0" algn="ctr">
              <a:lnSpc>
                <a:spcPts val="4200"/>
              </a:lnSpc>
              <a:buNone/>
            </a:pPr>
            <a:r>
              <a:rPr lang="en-US" sz="3200" dirty="0">
                <a:solidFill>
                  <a:srgbClr val="FFFFFF"/>
                </a:solidFill>
                <a:latin typeface="Georgia" pitchFamily="34" charset="0"/>
                <a:ea typeface="Georgia" pitchFamily="34" charset="-122"/>
                <a:cs typeface="Georgia" pitchFamily="34" charset="-120"/>
              </a:rPr>
              <a:t>Agile Methodologies and</a:t>
            </a:r>
            <a:endParaRPr lang="en-US" sz="3200" dirty="0"/>
          </a:p>
          <a:p>
            <a:pPr marL="0" indent="0" algn="ctr">
              <a:lnSpc>
                <a:spcPts val="4200"/>
              </a:lnSpc>
              <a:buNone/>
            </a:pPr>
            <a:r>
              <a:rPr lang="en-US" sz="3200" dirty="0">
                <a:solidFill>
                  <a:srgbClr val="FFFFFF"/>
                </a:solidFill>
                <a:latin typeface="Georgia" pitchFamily="34" charset="0"/>
                <a:ea typeface="Georgia" pitchFamily="34" charset="-122"/>
                <a:cs typeface="Georgia" pitchFamily="34" charset="-120"/>
              </a:rPr>
              <a:t>Software Development</a:t>
            </a:r>
            <a:endParaRPr lang="en-US" sz="3200" dirty="0"/>
          </a:p>
        </p:txBody>
      </p:sp>
      <p:sp>
        <p:nvSpPr>
          <p:cNvPr id="5" name="Shape 3"/>
          <p:cNvSpPr/>
          <p:nvPr/>
        </p:nvSpPr>
        <p:spPr>
          <a:xfrm>
            <a:off x="3200400" y="2788920"/>
            <a:ext cx="2743200" cy="36576"/>
          </a:xfrm>
          <a:prstGeom prst="rect">
            <a:avLst/>
          </a:prstGeom>
          <a:solidFill>
            <a:srgbClr val="3B82F6"/>
          </a:solidFill>
          <a:ln/>
        </p:spPr>
        <p:txBody>
          <a:bodyPr/>
          <a:lstStyle/>
          <a:p>
            <a:endParaRPr lang="en-US"/>
          </a:p>
        </p:txBody>
      </p:sp>
      <p:sp>
        <p:nvSpPr>
          <p:cNvPr id="6" name="Text 4"/>
          <p:cNvSpPr/>
          <p:nvPr/>
        </p:nvSpPr>
        <p:spPr>
          <a:xfrm>
            <a:off x="914400" y="2971800"/>
            <a:ext cx="7315200" cy="1645920"/>
          </a:xfrm>
          <a:prstGeom prst="rect">
            <a:avLst/>
          </a:prstGeom>
          <a:noFill/>
          <a:ln/>
        </p:spPr>
        <p:txBody>
          <a:bodyPr wrap="square" rtlCol="0" anchor="t"/>
          <a:lstStyle/>
          <a:p>
            <a:pPr marL="0" indent="0" algn="ctr">
              <a:lnSpc>
                <a:spcPts val="2200"/>
              </a:lnSpc>
              <a:buNone/>
            </a:pPr>
            <a:r>
              <a:rPr lang="en-US" sz="1600" dirty="0">
                <a:solidFill>
                  <a:srgbClr val="94A3B8"/>
                </a:solidFill>
                <a:latin typeface="Calibri" pitchFamily="34" charset="0"/>
                <a:ea typeface="Calibri" pitchFamily="34" charset="-122"/>
                <a:cs typeface="Calibri" pitchFamily="34" charset="-120"/>
              </a:rPr>
              <a:t>Kenny Nobrega</a:t>
            </a:r>
            <a:endParaRPr lang="en-US" sz="1600" dirty="0"/>
          </a:p>
          <a:p>
            <a:pPr marL="0" indent="0" algn="ctr">
              <a:lnSpc>
                <a:spcPts val="2200"/>
              </a:lnSpc>
              <a:buNone/>
            </a:pPr>
            <a:r>
              <a:rPr lang="en-US" sz="1300" dirty="0">
                <a:solidFill>
                  <a:srgbClr val="94A3B8"/>
                </a:solidFill>
                <a:latin typeface="Calibri" pitchFamily="34" charset="0"/>
                <a:ea typeface="Calibri" pitchFamily="34" charset="-122"/>
                <a:cs typeface="Calibri" pitchFamily="34" charset="-120"/>
              </a:rPr>
              <a:t>CS 250: Software Development Lifecycle</a:t>
            </a:r>
            <a:endParaRPr lang="en-US" sz="1600" dirty="0"/>
          </a:p>
          <a:p>
            <a:pPr marL="0" indent="0" algn="ctr">
              <a:lnSpc>
                <a:spcPts val="2200"/>
              </a:lnSpc>
              <a:buNone/>
            </a:pPr>
            <a:r>
              <a:rPr lang="en-US" sz="1300" dirty="0">
                <a:solidFill>
                  <a:srgbClr val="94A3B8"/>
                </a:solidFill>
                <a:latin typeface="Calibri" pitchFamily="34" charset="0"/>
                <a:ea typeface="Calibri" pitchFamily="34" charset="-122"/>
                <a:cs typeface="Calibri" pitchFamily="34" charset="-120"/>
              </a:rPr>
              <a:t>Southern New Hampshire University</a:t>
            </a:r>
            <a:endParaRPr lang="en-US" sz="1600" dirty="0"/>
          </a:p>
          <a:p>
            <a:pPr marL="0" indent="0" algn="ctr">
              <a:lnSpc>
                <a:spcPts val="2200"/>
              </a:lnSpc>
              <a:buNone/>
            </a:pPr>
            <a:r>
              <a:rPr lang="en-US" sz="1300" dirty="0">
                <a:solidFill>
                  <a:srgbClr val="94A3B8"/>
                </a:solidFill>
                <a:latin typeface="Calibri" pitchFamily="34" charset="0"/>
                <a:ea typeface="Calibri" pitchFamily="34" charset="-122"/>
                <a:cs typeface="Calibri" pitchFamily="34" charset="-120"/>
              </a:rPr>
              <a:t>Professor Dantzler  |  June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744"/>
          </a:solidFill>
          <a:ln/>
        </p:spPr>
        <p:txBody>
          <a:bodyPr/>
          <a:lstStyle/>
          <a:p>
            <a:endParaRPr lang="en-US"/>
          </a:p>
        </p:txBody>
      </p:sp>
      <p:sp>
        <p:nvSpPr>
          <p:cNvPr id="3" name="Text 1"/>
          <p:cNvSpPr/>
          <p:nvPr/>
        </p:nvSpPr>
        <p:spPr>
          <a:xfrm>
            <a:off x="548640" y="109728"/>
            <a:ext cx="8046720" cy="594360"/>
          </a:xfrm>
          <a:prstGeom prst="rect">
            <a:avLst/>
          </a:prstGeom>
          <a:noFill/>
          <a:ln/>
        </p:spPr>
        <p:txBody>
          <a:bodyPr wrap="square" lIns="0" tIns="0" rIns="0" bIns="0" rtlCol="0" anchor="ctr"/>
          <a:lstStyle/>
          <a:p>
            <a:pPr marL="0" indent="0" algn="l">
              <a:buNone/>
            </a:pPr>
            <a:r>
              <a:rPr lang="en-US" sz="2800" dirty="0">
                <a:solidFill>
                  <a:srgbClr val="FFFFFF"/>
                </a:solidFill>
                <a:latin typeface="Georgia" pitchFamily="34" charset="0"/>
                <a:ea typeface="Georgia" pitchFamily="34" charset="-122"/>
                <a:cs typeface="Georgia" pitchFamily="34" charset="-120"/>
              </a:rPr>
              <a:t>Agile Team Roles</a:t>
            </a:r>
            <a:endParaRPr lang="en-US" sz="2800" dirty="0"/>
          </a:p>
        </p:txBody>
      </p:sp>
      <p:sp>
        <p:nvSpPr>
          <p:cNvPr id="4" name="Shape 2"/>
          <p:cNvSpPr/>
          <p:nvPr/>
        </p:nvSpPr>
        <p:spPr>
          <a:xfrm>
            <a:off x="548640" y="1188720"/>
            <a:ext cx="2606040" cy="3291840"/>
          </a:xfrm>
          <a:prstGeom prst="roundRect">
            <a:avLst>
              <a:gd name="adj" fmla="val 1754"/>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5" name="Shape 3"/>
          <p:cNvSpPr/>
          <p:nvPr/>
        </p:nvSpPr>
        <p:spPr>
          <a:xfrm>
            <a:off x="548640" y="1188720"/>
            <a:ext cx="2606040" cy="54864"/>
          </a:xfrm>
          <a:prstGeom prst="rect">
            <a:avLst/>
          </a:prstGeom>
          <a:solidFill>
            <a:srgbClr val="3B82F6"/>
          </a:solidFill>
          <a:ln/>
        </p:spPr>
        <p:txBody>
          <a:bodyPr/>
          <a:lstStyle/>
          <a:p>
            <a:endParaRPr lang="en-US"/>
          </a:p>
        </p:txBody>
      </p:sp>
      <p:pic>
        <p:nvPicPr>
          <p:cNvPr id="6" name="Image 0" descr="icon_po.sv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45920" y="1417320"/>
            <a:ext cx="411480" cy="411480"/>
          </a:xfrm>
          <a:prstGeom prst="rect">
            <a:avLst/>
          </a:prstGeom>
        </p:spPr>
      </p:pic>
      <p:sp>
        <p:nvSpPr>
          <p:cNvPr id="7" name="Text 4"/>
          <p:cNvSpPr/>
          <p:nvPr/>
        </p:nvSpPr>
        <p:spPr>
          <a:xfrm>
            <a:off x="640080" y="1901952"/>
            <a:ext cx="2423160" cy="365760"/>
          </a:xfrm>
          <a:prstGeom prst="rect">
            <a:avLst/>
          </a:prstGeom>
          <a:noFill/>
          <a:ln/>
        </p:spPr>
        <p:txBody>
          <a:bodyPr wrap="square" lIns="0" tIns="0" rIns="0" bIns="0" rtlCol="0" anchor="ctr"/>
          <a:lstStyle/>
          <a:p>
            <a:pPr marL="0" indent="0" algn="ctr">
              <a:buNone/>
            </a:pPr>
            <a:r>
              <a:rPr lang="en-US" sz="1300" b="1" dirty="0">
                <a:solidFill>
                  <a:srgbClr val="1E293B"/>
                </a:solidFill>
                <a:latin typeface="Calibri" pitchFamily="34" charset="0"/>
                <a:ea typeface="Calibri" pitchFamily="34" charset="-122"/>
                <a:cs typeface="Calibri" pitchFamily="34" charset="-120"/>
              </a:rPr>
              <a:t>Product Owner</a:t>
            </a:r>
            <a:endParaRPr lang="en-US" sz="1300" dirty="0"/>
          </a:p>
        </p:txBody>
      </p:sp>
      <p:sp>
        <p:nvSpPr>
          <p:cNvPr id="8" name="Text 5"/>
          <p:cNvSpPr/>
          <p:nvPr/>
        </p:nvSpPr>
        <p:spPr>
          <a:xfrm>
            <a:off x="685800" y="2286000"/>
            <a:ext cx="2331720" cy="2011680"/>
          </a:xfrm>
          <a:prstGeom prst="rect">
            <a:avLst/>
          </a:prstGeom>
          <a:noFill/>
          <a:ln/>
        </p:spPr>
        <p:txBody>
          <a:bodyPr wrap="square" rtlCol="0" anchor="t"/>
          <a:lstStyle/>
          <a:p>
            <a:pPr marL="342900" indent="-342900" algn="l">
              <a:spcAft>
                <a:spcPts val="600"/>
              </a:spcAft>
              <a:buSzPct val="100000"/>
              <a:buChar char="•"/>
            </a:pPr>
            <a:r>
              <a:rPr lang="en-US" sz="1100" dirty="0">
                <a:solidFill>
                  <a:srgbClr val="475569"/>
                </a:solidFill>
                <a:latin typeface="Calibri" pitchFamily="34" charset="0"/>
                <a:ea typeface="Calibri" pitchFamily="34" charset="-122"/>
                <a:cs typeface="Calibri" pitchFamily="34" charset="-120"/>
              </a:rPr>
              <a:t>Maintains and prioritizes</a:t>
            </a:r>
            <a:endParaRPr lang="en-US" sz="1100" dirty="0"/>
          </a:p>
          <a:p>
            <a:pPr marL="342900" indent="-342900" algn="l">
              <a:spcAft>
                <a:spcPts val="600"/>
              </a:spcAft>
              <a:buSzPct val="100000"/>
              <a:buChar char="•"/>
            </a:pPr>
            <a:r>
              <a:rPr lang="en-US" sz="1100" dirty="0">
                <a:solidFill>
                  <a:srgbClr val="475569"/>
                </a:solidFill>
                <a:latin typeface="Calibri" pitchFamily="34" charset="0"/>
                <a:ea typeface="Calibri" pitchFamily="34" charset="-122"/>
                <a:cs typeface="Calibri" pitchFamily="34" charset="-120"/>
              </a:rPr>
              <a:t>the product backlog</a:t>
            </a:r>
            <a:endParaRPr lang="en-US" sz="1100" dirty="0"/>
          </a:p>
          <a:p>
            <a:pPr marL="342900" indent="-342900" algn="l">
              <a:spcAft>
                <a:spcPts val="600"/>
              </a:spcAft>
              <a:buSzPct val="100000"/>
              <a:buChar char="•"/>
            </a:pPr>
            <a:r>
              <a:rPr lang="en-US" sz="1100" dirty="0">
                <a:solidFill>
                  <a:srgbClr val="475569"/>
                </a:solidFill>
                <a:latin typeface="Calibri" pitchFamily="34" charset="0"/>
                <a:ea typeface="Calibri" pitchFamily="34" charset="-122"/>
                <a:cs typeface="Calibri" pitchFamily="34" charset="-120"/>
              </a:rPr>
              <a:t>Represents stakeholder</a:t>
            </a:r>
            <a:endParaRPr lang="en-US" sz="1100" dirty="0"/>
          </a:p>
          <a:p>
            <a:pPr marL="342900" indent="-342900" algn="l">
              <a:spcAft>
                <a:spcPts val="600"/>
              </a:spcAft>
              <a:buSzPct val="100000"/>
              <a:buChar char="•"/>
            </a:pPr>
            <a:r>
              <a:rPr lang="en-US" sz="1100" dirty="0">
                <a:solidFill>
                  <a:srgbClr val="475569"/>
                </a:solidFill>
                <a:latin typeface="Calibri" pitchFamily="34" charset="0"/>
                <a:ea typeface="Calibri" pitchFamily="34" charset="-122"/>
                <a:cs typeface="Calibri" pitchFamily="34" charset="-120"/>
              </a:rPr>
              <a:t>needs</a:t>
            </a:r>
            <a:endParaRPr lang="en-US" sz="1100" dirty="0"/>
          </a:p>
          <a:p>
            <a:pPr marL="342900" indent="-342900" algn="l">
              <a:spcAft>
                <a:spcPts val="600"/>
              </a:spcAft>
              <a:buSzPct val="100000"/>
              <a:buChar char="•"/>
            </a:pPr>
            <a:r>
              <a:rPr lang="en-US" sz="1100" dirty="0">
                <a:solidFill>
                  <a:srgbClr val="475569"/>
                </a:solidFill>
                <a:latin typeface="Calibri" pitchFamily="34" charset="0"/>
                <a:ea typeface="Calibri" pitchFamily="34" charset="-122"/>
                <a:cs typeface="Calibri" pitchFamily="34" charset="-120"/>
              </a:rPr>
              <a:t>Defines project</a:t>
            </a:r>
            <a:endParaRPr lang="en-US" sz="1100" dirty="0"/>
          </a:p>
          <a:p>
            <a:pPr marL="342900" indent="-342900" algn="l">
              <a:spcAft>
                <a:spcPts val="600"/>
              </a:spcAft>
              <a:buSzPct val="100000"/>
              <a:buChar char="•"/>
            </a:pPr>
            <a:r>
              <a:rPr lang="en-US" sz="1100" dirty="0">
                <a:solidFill>
                  <a:srgbClr val="475569"/>
                </a:solidFill>
                <a:latin typeface="Calibri" pitchFamily="34" charset="0"/>
                <a:ea typeface="Calibri" pitchFamily="34" charset="-122"/>
                <a:cs typeface="Calibri" pitchFamily="34" charset="-120"/>
              </a:rPr>
              <a:t>requirements</a:t>
            </a:r>
            <a:endParaRPr lang="en-US" sz="1100" dirty="0"/>
          </a:p>
        </p:txBody>
      </p:sp>
      <p:sp>
        <p:nvSpPr>
          <p:cNvPr id="9" name="Shape 6"/>
          <p:cNvSpPr/>
          <p:nvPr/>
        </p:nvSpPr>
        <p:spPr>
          <a:xfrm>
            <a:off x="3355848" y="1188720"/>
            <a:ext cx="2606040" cy="3291840"/>
          </a:xfrm>
          <a:prstGeom prst="roundRect">
            <a:avLst>
              <a:gd name="adj" fmla="val 1754"/>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10" name="Shape 7"/>
          <p:cNvSpPr/>
          <p:nvPr/>
        </p:nvSpPr>
        <p:spPr>
          <a:xfrm>
            <a:off x="3355848" y="1188720"/>
            <a:ext cx="2606040" cy="54864"/>
          </a:xfrm>
          <a:prstGeom prst="rect">
            <a:avLst/>
          </a:prstGeom>
          <a:solidFill>
            <a:srgbClr val="10B981"/>
          </a:solidFill>
          <a:ln/>
        </p:spPr>
        <p:txBody>
          <a:bodyPr/>
          <a:lstStyle/>
          <a:p>
            <a:endParaRPr lang="en-US"/>
          </a:p>
        </p:txBody>
      </p:sp>
      <p:pic>
        <p:nvPicPr>
          <p:cNvPr id="11" name="Image 1" descr="icon_sm.sv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453128" y="1417320"/>
            <a:ext cx="411480" cy="411480"/>
          </a:xfrm>
          <a:prstGeom prst="rect">
            <a:avLst/>
          </a:prstGeom>
        </p:spPr>
      </p:pic>
      <p:sp>
        <p:nvSpPr>
          <p:cNvPr id="12" name="Text 8"/>
          <p:cNvSpPr/>
          <p:nvPr/>
        </p:nvSpPr>
        <p:spPr>
          <a:xfrm>
            <a:off x="3447288" y="1901952"/>
            <a:ext cx="2423160" cy="365760"/>
          </a:xfrm>
          <a:prstGeom prst="rect">
            <a:avLst/>
          </a:prstGeom>
          <a:noFill/>
          <a:ln/>
        </p:spPr>
        <p:txBody>
          <a:bodyPr wrap="square" lIns="0" tIns="0" rIns="0" bIns="0" rtlCol="0" anchor="ctr"/>
          <a:lstStyle/>
          <a:p>
            <a:pPr marL="0" indent="0" algn="ctr">
              <a:buNone/>
            </a:pPr>
            <a:r>
              <a:rPr lang="en-US" sz="1300" b="1" dirty="0">
                <a:solidFill>
                  <a:srgbClr val="1E293B"/>
                </a:solidFill>
                <a:latin typeface="Calibri" pitchFamily="34" charset="0"/>
                <a:ea typeface="Calibri" pitchFamily="34" charset="-122"/>
                <a:cs typeface="Calibri" pitchFamily="34" charset="-120"/>
              </a:rPr>
              <a:t>Scrum Master</a:t>
            </a:r>
            <a:endParaRPr lang="en-US" sz="1300" dirty="0"/>
          </a:p>
        </p:txBody>
      </p:sp>
      <p:sp>
        <p:nvSpPr>
          <p:cNvPr id="13" name="Text 9"/>
          <p:cNvSpPr/>
          <p:nvPr/>
        </p:nvSpPr>
        <p:spPr>
          <a:xfrm>
            <a:off x="3493008" y="2286000"/>
            <a:ext cx="2331720" cy="2011680"/>
          </a:xfrm>
          <a:prstGeom prst="rect">
            <a:avLst/>
          </a:prstGeom>
          <a:noFill/>
          <a:ln/>
        </p:spPr>
        <p:txBody>
          <a:bodyPr wrap="square" rtlCol="0" anchor="t"/>
          <a:lstStyle/>
          <a:p>
            <a:pPr marL="342900" indent="-342900" algn="l">
              <a:spcAft>
                <a:spcPts val="600"/>
              </a:spcAft>
              <a:buSzPct val="100000"/>
              <a:buChar char="•"/>
            </a:pPr>
            <a:r>
              <a:rPr lang="en-US" sz="1100" dirty="0">
                <a:solidFill>
                  <a:srgbClr val="475569"/>
                </a:solidFill>
                <a:latin typeface="Calibri" pitchFamily="34" charset="0"/>
                <a:ea typeface="Calibri" pitchFamily="34" charset="-122"/>
                <a:cs typeface="Calibri" pitchFamily="34" charset="-120"/>
              </a:rPr>
              <a:t>Facilitates Scrum events</a:t>
            </a:r>
            <a:endParaRPr lang="en-US" sz="1100" dirty="0"/>
          </a:p>
          <a:p>
            <a:pPr marL="342900" indent="-342900" algn="l">
              <a:spcAft>
                <a:spcPts val="600"/>
              </a:spcAft>
              <a:buSzPct val="100000"/>
              <a:buChar char="•"/>
            </a:pPr>
            <a:r>
              <a:rPr lang="en-US" sz="1100" dirty="0">
                <a:solidFill>
                  <a:srgbClr val="475569"/>
                </a:solidFill>
                <a:latin typeface="Calibri" pitchFamily="34" charset="0"/>
                <a:ea typeface="Calibri" pitchFamily="34" charset="-122"/>
                <a:cs typeface="Calibri" pitchFamily="34" charset="-120"/>
              </a:rPr>
              <a:t>Removes obstacles</a:t>
            </a:r>
            <a:endParaRPr lang="en-US" sz="1100" dirty="0"/>
          </a:p>
          <a:p>
            <a:pPr marL="342900" indent="-342900" algn="l">
              <a:spcAft>
                <a:spcPts val="600"/>
              </a:spcAft>
              <a:buSzPct val="100000"/>
              <a:buChar char="•"/>
            </a:pPr>
            <a:r>
              <a:rPr lang="en-US" sz="1100" dirty="0">
                <a:solidFill>
                  <a:srgbClr val="475569"/>
                </a:solidFill>
                <a:latin typeface="Calibri" pitchFamily="34" charset="0"/>
                <a:ea typeface="Calibri" pitchFamily="34" charset="-122"/>
                <a:cs typeface="Calibri" pitchFamily="34" charset="-120"/>
              </a:rPr>
              <a:t>affecting progress</a:t>
            </a:r>
            <a:endParaRPr lang="en-US" sz="1100" dirty="0"/>
          </a:p>
          <a:p>
            <a:pPr marL="342900" indent="-342900" algn="l">
              <a:spcAft>
                <a:spcPts val="600"/>
              </a:spcAft>
              <a:buSzPct val="100000"/>
              <a:buChar char="•"/>
            </a:pPr>
            <a:r>
              <a:rPr lang="en-US" sz="1100" dirty="0">
                <a:solidFill>
                  <a:srgbClr val="475569"/>
                </a:solidFill>
                <a:latin typeface="Calibri" pitchFamily="34" charset="0"/>
                <a:ea typeface="Calibri" pitchFamily="34" charset="-122"/>
                <a:cs typeface="Calibri" pitchFamily="34" charset="-120"/>
              </a:rPr>
              <a:t>Ensures Agile practices</a:t>
            </a:r>
            <a:endParaRPr lang="en-US" sz="1100" dirty="0"/>
          </a:p>
          <a:p>
            <a:pPr marL="342900" indent="-342900" algn="l">
              <a:spcAft>
                <a:spcPts val="600"/>
              </a:spcAft>
              <a:buSzPct val="100000"/>
              <a:buChar char="•"/>
            </a:pPr>
            <a:r>
              <a:rPr lang="en-US" sz="1100" dirty="0">
                <a:solidFill>
                  <a:srgbClr val="475569"/>
                </a:solidFill>
                <a:latin typeface="Calibri" pitchFamily="34" charset="0"/>
                <a:ea typeface="Calibri" pitchFamily="34" charset="-122"/>
                <a:cs typeface="Calibri" pitchFamily="34" charset="-120"/>
              </a:rPr>
              <a:t>are followed</a:t>
            </a:r>
            <a:endParaRPr lang="en-US" sz="1100" dirty="0"/>
          </a:p>
        </p:txBody>
      </p:sp>
      <p:sp>
        <p:nvSpPr>
          <p:cNvPr id="14" name="Shape 10"/>
          <p:cNvSpPr/>
          <p:nvPr/>
        </p:nvSpPr>
        <p:spPr>
          <a:xfrm>
            <a:off x="6163056" y="1188720"/>
            <a:ext cx="2606040" cy="3291840"/>
          </a:xfrm>
          <a:prstGeom prst="roundRect">
            <a:avLst>
              <a:gd name="adj" fmla="val 1754"/>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15" name="Shape 11"/>
          <p:cNvSpPr/>
          <p:nvPr/>
        </p:nvSpPr>
        <p:spPr>
          <a:xfrm>
            <a:off x="6163056" y="1188720"/>
            <a:ext cx="2606040" cy="54864"/>
          </a:xfrm>
          <a:prstGeom prst="rect">
            <a:avLst/>
          </a:prstGeom>
          <a:solidFill>
            <a:srgbClr val="F59E0B"/>
          </a:solidFill>
          <a:ln/>
        </p:spPr>
        <p:txBody>
          <a:bodyPr/>
          <a:lstStyle/>
          <a:p>
            <a:endParaRPr lang="en-US"/>
          </a:p>
        </p:txBody>
      </p:sp>
      <p:pic>
        <p:nvPicPr>
          <p:cNvPr id="16" name="Image 2" descr="icon_dev.sv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60336" y="1417320"/>
            <a:ext cx="411480" cy="411480"/>
          </a:xfrm>
          <a:prstGeom prst="rect">
            <a:avLst/>
          </a:prstGeom>
        </p:spPr>
      </p:pic>
      <p:sp>
        <p:nvSpPr>
          <p:cNvPr id="17" name="Text 12"/>
          <p:cNvSpPr/>
          <p:nvPr/>
        </p:nvSpPr>
        <p:spPr>
          <a:xfrm>
            <a:off x="6254496" y="1901952"/>
            <a:ext cx="2423160" cy="365760"/>
          </a:xfrm>
          <a:prstGeom prst="rect">
            <a:avLst/>
          </a:prstGeom>
          <a:noFill/>
          <a:ln/>
        </p:spPr>
        <p:txBody>
          <a:bodyPr wrap="square" lIns="0" tIns="0" rIns="0" bIns="0" rtlCol="0" anchor="ctr"/>
          <a:lstStyle/>
          <a:p>
            <a:pPr marL="0" indent="0" algn="ctr">
              <a:buNone/>
            </a:pPr>
            <a:r>
              <a:rPr lang="en-US" sz="1300" b="1" dirty="0">
                <a:solidFill>
                  <a:srgbClr val="1E293B"/>
                </a:solidFill>
                <a:latin typeface="Calibri" pitchFamily="34" charset="0"/>
                <a:ea typeface="Calibri" pitchFamily="34" charset="-122"/>
                <a:cs typeface="Calibri" pitchFamily="34" charset="-120"/>
              </a:rPr>
              <a:t>Development Team</a:t>
            </a:r>
            <a:endParaRPr lang="en-US" sz="1300" dirty="0"/>
          </a:p>
        </p:txBody>
      </p:sp>
      <p:sp>
        <p:nvSpPr>
          <p:cNvPr id="18" name="Text 13"/>
          <p:cNvSpPr/>
          <p:nvPr/>
        </p:nvSpPr>
        <p:spPr>
          <a:xfrm>
            <a:off x="6300216" y="2286000"/>
            <a:ext cx="2331720" cy="2011680"/>
          </a:xfrm>
          <a:prstGeom prst="rect">
            <a:avLst/>
          </a:prstGeom>
          <a:noFill/>
          <a:ln/>
        </p:spPr>
        <p:txBody>
          <a:bodyPr wrap="square" rtlCol="0" anchor="t"/>
          <a:lstStyle/>
          <a:p>
            <a:pPr marL="342900" indent="-342900" algn="l">
              <a:spcAft>
                <a:spcPts val="600"/>
              </a:spcAft>
              <a:buSzPct val="100000"/>
              <a:buChar char="•"/>
            </a:pPr>
            <a:r>
              <a:rPr lang="en-US" sz="1100" dirty="0">
                <a:solidFill>
                  <a:srgbClr val="475569"/>
                </a:solidFill>
                <a:latin typeface="Calibri" pitchFamily="34" charset="0"/>
                <a:ea typeface="Calibri" pitchFamily="34" charset="-122"/>
                <a:cs typeface="Calibri" pitchFamily="34" charset="-120"/>
              </a:rPr>
              <a:t>Designs, develops, and</a:t>
            </a:r>
            <a:endParaRPr lang="en-US" sz="1100" dirty="0"/>
          </a:p>
          <a:p>
            <a:pPr marL="342900" indent="-342900" algn="l">
              <a:spcAft>
                <a:spcPts val="600"/>
              </a:spcAft>
              <a:buSzPct val="100000"/>
              <a:buChar char="•"/>
            </a:pPr>
            <a:r>
              <a:rPr lang="en-US" sz="1100" dirty="0">
                <a:solidFill>
                  <a:srgbClr val="475569"/>
                </a:solidFill>
                <a:latin typeface="Calibri" pitchFamily="34" charset="0"/>
                <a:ea typeface="Calibri" pitchFamily="34" charset="-122"/>
                <a:cs typeface="Calibri" pitchFamily="34" charset="-120"/>
              </a:rPr>
              <a:t>tests software</a:t>
            </a:r>
            <a:endParaRPr lang="en-US" sz="1100" dirty="0"/>
          </a:p>
          <a:p>
            <a:pPr marL="342900" indent="-342900" algn="l">
              <a:spcAft>
                <a:spcPts val="600"/>
              </a:spcAft>
              <a:buSzPct val="100000"/>
              <a:buChar char="•"/>
            </a:pPr>
            <a:r>
              <a:rPr lang="en-US" sz="1100" dirty="0">
                <a:solidFill>
                  <a:srgbClr val="475569"/>
                </a:solidFill>
                <a:latin typeface="Calibri" pitchFamily="34" charset="0"/>
                <a:ea typeface="Calibri" pitchFamily="34" charset="-122"/>
                <a:cs typeface="Calibri" pitchFamily="34" charset="-120"/>
              </a:rPr>
              <a:t>Collaborates to complete</a:t>
            </a:r>
            <a:endParaRPr lang="en-US" sz="1100" dirty="0"/>
          </a:p>
          <a:p>
            <a:pPr marL="342900" indent="-342900" algn="l">
              <a:spcAft>
                <a:spcPts val="600"/>
              </a:spcAft>
              <a:buSzPct val="100000"/>
              <a:buChar char="•"/>
            </a:pPr>
            <a:r>
              <a:rPr lang="en-US" sz="1100" dirty="0">
                <a:solidFill>
                  <a:srgbClr val="475569"/>
                </a:solidFill>
                <a:latin typeface="Calibri" pitchFamily="34" charset="0"/>
                <a:ea typeface="Calibri" pitchFamily="34" charset="-122"/>
                <a:cs typeface="Calibri" pitchFamily="34" charset="-120"/>
              </a:rPr>
              <a:t>sprint goals</a:t>
            </a:r>
            <a:endParaRPr lang="en-US" sz="1100" dirty="0"/>
          </a:p>
          <a:p>
            <a:pPr marL="342900" indent="-342900" algn="l">
              <a:spcAft>
                <a:spcPts val="600"/>
              </a:spcAft>
              <a:buSzPct val="100000"/>
              <a:buChar char="•"/>
            </a:pPr>
            <a:r>
              <a:rPr lang="en-US" sz="1100" dirty="0">
                <a:solidFill>
                  <a:srgbClr val="475569"/>
                </a:solidFill>
                <a:latin typeface="Calibri" pitchFamily="34" charset="0"/>
                <a:ea typeface="Calibri" pitchFamily="34" charset="-122"/>
                <a:cs typeface="Calibri" pitchFamily="34" charset="-120"/>
              </a:rPr>
              <a:t>Delivers working product</a:t>
            </a:r>
            <a:endParaRPr lang="en-US" sz="1100" dirty="0"/>
          </a:p>
          <a:p>
            <a:pPr marL="342900" indent="-342900" algn="l">
              <a:spcAft>
                <a:spcPts val="600"/>
              </a:spcAft>
              <a:buSzPct val="100000"/>
              <a:buChar char="•"/>
            </a:pPr>
            <a:r>
              <a:rPr lang="en-US" sz="1100" dirty="0">
                <a:solidFill>
                  <a:srgbClr val="475569"/>
                </a:solidFill>
                <a:latin typeface="Calibri" pitchFamily="34" charset="0"/>
                <a:ea typeface="Calibri" pitchFamily="34" charset="-122"/>
                <a:cs typeface="Calibri" pitchFamily="34" charset="-120"/>
              </a:rPr>
              <a:t>increments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744"/>
          </a:solidFill>
          <a:ln/>
        </p:spPr>
        <p:txBody>
          <a:bodyPr/>
          <a:lstStyle/>
          <a:p>
            <a:endParaRPr lang="en-US"/>
          </a:p>
        </p:txBody>
      </p:sp>
      <p:sp>
        <p:nvSpPr>
          <p:cNvPr id="3" name="Text 1"/>
          <p:cNvSpPr/>
          <p:nvPr/>
        </p:nvSpPr>
        <p:spPr>
          <a:xfrm>
            <a:off x="548640" y="109728"/>
            <a:ext cx="8046720" cy="594360"/>
          </a:xfrm>
          <a:prstGeom prst="rect">
            <a:avLst/>
          </a:prstGeom>
          <a:noFill/>
          <a:ln/>
        </p:spPr>
        <p:txBody>
          <a:bodyPr wrap="square" lIns="0" tIns="0" rIns="0" bIns="0" rtlCol="0" anchor="ctr"/>
          <a:lstStyle/>
          <a:p>
            <a:pPr marL="0" indent="0" algn="l">
              <a:buNone/>
            </a:pPr>
            <a:r>
              <a:rPr lang="en-US" sz="2600" dirty="0">
                <a:solidFill>
                  <a:srgbClr val="FFFFFF"/>
                </a:solidFill>
                <a:latin typeface="Georgia" pitchFamily="34" charset="0"/>
                <a:ea typeface="Georgia" pitchFamily="34" charset="-122"/>
                <a:cs typeface="Georgia" pitchFamily="34" charset="-120"/>
              </a:rPr>
              <a:t>Agile Software Development Life Cycle</a:t>
            </a:r>
            <a:endParaRPr lang="en-US" sz="2600" dirty="0"/>
          </a:p>
        </p:txBody>
      </p:sp>
      <p:sp>
        <p:nvSpPr>
          <p:cNvPr id="4" name="Text 2"/>
          <p:cNvSpPr/>
          <p:nvPr/>
        </p:nvSpPr>
        <p:spPr>
          <a:xfrm>
            <a:off x="548640" y="1051560"/>
            <a:ext cx="320040" cy="320040"/>
          </a:xfrm>
          <a:prstGeom prst="ellipse">
            <a:avLst/>
          </a:prstGeom>
          <a:solidFill>
            <a:srgbClr val="3B82F6"/>
          </a:solid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1</a:t>
            </a:r>
            <a:endParaRPr lang="en-US" sz="1100" dirty="0"/>
          </a:p>
        </p:txBody>
      </p:sp>
      <p:sp>
        <p:nvSpPr>
          <p:cNvPr id="5" name="Text 3"/>
          <p:cNvSpPr/>
          <p:nvPr/>
        </p:nvSpPr>
        <p:spPr>
          <a:xfrm>
            <a:off x="987552" y="1051560"/>
            <a:ext cx="3200400" cy="320040"/>
          </a:xfrm>
          <a:prstGeom prst="rect">
            <a:avLst/>
          </a:prstGeom>
          <a:noFill/>
          <a:ln/>
        </p:spPr>
        <p:txBody>
          <a:bodyPr wrap="square" lIns="0" tIns="0" rIns="0" bIns="0" rtlCol="0" anchor="ctr"/>
          <a:lstStyle/>
          <a:p>
            <a:pPr marL="0" indent="0" algn="l">
              <a:buNone/>
            </a:pPr>
            <a:r>
              <a:rPr lang="en-US" sz="1300" dirty="0">
                <a:solidFill>
                  <a:srgbClr val="1E293B"/>
                </a:solidFill>
                <a:latin typeface="Calibri" pitchFamily="34" charset="0"/>
                <a:ea typeface="Calibri" pitchFamily="34" charset="-122"/>
                <a:cs typeface="Calibri" pitchFamily="34" charset="-120"/>
              </a:rPr>
              <a:t>Planning</a:t>
            </a:r>
            <a:endParaRPr lang="en-US" sz="1300" dirty="0"/>
          </a:p>
        </p:txBody>
      </p:sp>
      <p:sp>
        <p:nvSpPr>
          <p:cNvPr id="6" name="Text 4"/>
          <p:cNvSpPr/>
          <p:nvPr/>
        </p:nvSpPr>
        <p:spPr>
          <a:xfrm>
            <a:off x="548640" y="1545336"/>
            <a:ext cx="320040" cy="320040"/>
          </a:xfrm>
          <a:prstGeom prst="ellipse">
            <a:avLst/>
          </a:prstGeom>
          <a:solidFill>
            <a:srgbClr val="3B82F6"/>
          </a:solid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2</a:t>
            </a:r>
            <a:endParaRPr lang="en-US" sz="1100" dirty="0"/>
          </a:p>
        </p:txBody>
      </p:sp>
      <p:sp>
        <p:nvSpPr>
          <p:cNvPr id="7" name="Text 5"/>
          <p:cNvSpPr/>
          <p:nvPr/>
        </p:nvSpPr>
        <p:spPr>
          <a:xfrm>
            <a:off x="987552" y="1545336"/>
            <a:ext cx="3200400" cy="320040"/>
          </a:xfrm>
          <a:prstGeom prst="rect">
            <a:avLst/>
          </a:prstGeom>
          <a:noFill/>
          <a:ln/>
        </p:spPr>
        <p:txBody>
          <a:bodyPr wrap="square" lIns="0" tIns="0" rIns="0" bIns="0" rtlCol="0" anchor="ctr"/>
          <a:lstStyle/>
          <a:p>
            <a:pPr marL="0" indent="0" algn="l">
              <a:buNone/>
            </a:pPr>
            <a:r>
              <a:rPr lang="en-US" sz="1300" dirty="0">
                <a:solidFill>
                  <a:srgbClr val="1E293B"/>
                </a:solidFill>
                <a:latin typeface="Calibri" pitchFamily="34" charset="0"/>
                <a:ea typeface="Calibri" pitchFamily="34" charset="-122"/>
                <a:cs typeface="Calibri" pitchFamily="34" charset="-120"/>
              </a:rPr>
              <a:t>Requirements Analysis</a:t>
            </a:r>
            <a:endParaRPr lang="en-US" sz="1300" dirty="0"/>
          </a:p>
        </p:txBody>
      </p:sp>
      <p:sp>
        <p:nvSpPr>
          <p:cNvPr id="8" name="Text 6"/>
          <p:cNvSpPr/>
          <p:nvPr/>
        </p:nvSpPr>
        <p:spPr>
          <a:xfrm>
            <a:off x="548640" y="2039112"/>
            <a:ext cx="320040" cy="320040"/>
          </a:xfrm>
          <a:prstGeom prst="ellipse">
            <a:avLst/>
          </a:prstGeom>
          <a:solidFill>
            <a:srgbClr val="3B82F6"/>
          </a:solid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3</a:t>
            </a:r>
            <a:endParaRPr lang="en-US" sz="1100" dirty="0"/>
          </a:p>
        </p:txBody>
      </p:sp>
      <p:sp>
        <p:nvSpPr>
          <p:cNvPr id="9" name="Text 7"/>
          <p:cNvSpPr/>
          <p:nvPr/>
        </p:nvSpPr>
        <p:spPr>
          <a:xfrm>
            <a:off x="987552" y="2039112"/>
            <a:ext cx="3200400" cy="320040"/>
          </a:xfrm>
          <a:prstGeom prst="rect">
            <a:avLst/>
          </a:prstGeom>
          <a:noFill/>
          <a:ln/>
        </p:spPr>
        <p:txBody>
          <a:bodyPr wrap="square" lIns="0" tIns="0" rIns="0" bIns="0" rtlCol="0" anchor="ctr"/>
          <a:lstStyle/>
          <a:p>
            <a:pPr marL="0" indent="0" algn="l">
              <a:buNone/>
            </a:pPr>
            <a:r>
              <a:rPr lang="en-US" sz="1300" dirty="0">
                <a:solidFill>
                  <a:srgbClr val="1E293B"/>
                </a:solidFill>
                <a:latin typeface="Calibri" pitchFamily="34" charset="0"/>
                <a:ea typeface="Calibri" pitchFamily="34" charset="-122"/>
                <a:cs typeface="Calibri" pitchFamily="34" charset="-120"/>
              </a:rPr>
              <a:t>Design</a:t>
            </a:r>
            <a:endParaRPr lang="en-US" sz="1300" dirty="0"/>
          </a:p>
        </p:txBody>
      </p:sp>
      <p:sp>
        <p:nvSpPr>
          <p:cNvPr id="10" name="Text 8"/>
          <p:cNvSpPr/>
          <p:nvPr/>
        </p:nvSpPr>
        <p:spPr>
          <a:xfrm>
            <a:off x="548640" y="2532888"/>
            <a:ext cx="320040" cy="320040"/>
          </a:xfrm>
          <a:prstGeom prst="ellipse">
            <a:avLst/>
          </a:prstGeom>
          <a:solidFill>
            <a:srgbClr val="3B82F6"/>
          </a:solid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4</a:t>
            </a:r>
            <a:endParaRPr lang="en-US" sz="1100" dirty="0"/>
          </a:p>
        </p:txBody>
      </p:sp>
      <p:sp>
        <p:nvSpPr>
          <p:cNvPr id="11" name="Text 9"/>
          <p:cNvSpPr/>
          <p:nvPr/>
        </p:nvSpPr>
        <p:spPr>
          <a:xfrm>
            <a:off x="987552" y="2532888"/>
            <a:ext cx="3200400" cy="320040"/>
          </a:xfrm>
          <a:prstGeom prst="rect">
            <a:avLst/>
          </a:prstGeom>
          <a:noFill/>
          <a:ln/>
        </p:spPr>
        <p:txBody>
          <a:bodyPr wrap="square" lIns="0" tIns="0" rIns="0" bIns="0" rtlCol="0" anchor="ctr"/>
          <a:lstStyle/>
          <a:p>
            <a:pPr marL="0" indent="0" algn="l">
              <a:buNone/>
            </a:pPr>
            <a:r>
              <a:rPr lang="en-US" sz="1300" dirty="0">
                <a:solidFill>
                  <a:srgbClr val="1E293B"/>
                </a:solidFill>
                <a:latin typeface="Calibri" pitchFamily="34" charset="0"/>
                <a:ea typeface="Calibri" pitchFamily="34" charset="-122"/>
                <a:cs typeface="Calibri" pitchFamily="34" charset="-120"/>
              </a:rPr>
              <a:t>Development</a:t>
            </a:r>
            <a:endParaRPr lang="en-US" sz="1300" dirty="0"/>
          </a:p>
        </p:txBody>
      </p:sp>
      <p:sp>
        <p:nvSpPr>
          <p:cNvPr id="12" name="Text 10"/>
          <p:cNvSpPr/>
          <p:nvPr/>
        </p:nvSpPr>
        <p:spPr>
          <a:xfrm>
            <a:off x="548640" y="3026664"/>
            <a:ext cx="320040" cy="320040"/>
          </a:xfrm>
          <a:prstGeom prst="ellipse">
            <a:avLst/>
          </a:prstGeom>
          <a:solidFill>
            <a:srgbClr val="3B82F6"/>
          </a:solid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5</a:t>
            </a:r>
            <a:endParaRPr lang="en-US" sz="1100" dirty="0"/>
          </a:p>
        </p:txBody>
      </p:sp>
      <p:sp>
        <p:nvSpPr>
          <p:cNvPr id="13" name="Text 11"/>
          <p:cNvSpPr/>
          <p:nvPr/>
        </p:nvSpPr>
        <p:spPr>
          <a:xfrm>
            <a:off x="987552" y="3026664"/>
            <a:ext cx="3200400" cy="320040"/>
          </a:xfrm>
          <a:prstGeom prst="rect">
            <a:avLst/>
          </a:prstGeom>
          <a:noFill/>
          <a:ln/>
        </p:spPr>
        <p:txBody>
          <a:bodyPr wrap="square" lIns="0" tIns="0" rIns="0" bIns="0" rtlCol="0" anchor="ctr"/>
          <a:lstStyle/>
          <a:p>
            <a:pPr marL="0" indent="0" algn="l">
              <a:buNone/>
            </a:pPr>
            <a:r>
              <a:rPr lang="en-US" sz="1300" dirty="0">
                <a:solidFill>
                  <a:srgbClr val="1E293B"/>
                </a:solidFill>
                <a:latin typeface="Calibri" pitchFamily="34" charset="0"/>
                <a:ea typeface="Calibri" pitchFamily="34" charset="-122"/>
                <a:cs typeface="Calibri" pitchFamily="34" charset="-120"/>
              </a:rPr>
              <a:t>Testing</a:t>
            </a:r>
            <a:endParaRPr lang="en-US" sz="1300" dirty="0"/>
          </a:p>
        </p:txBody>
      </p:sp>
      <p:sp>
        <p:nvSpPr>
          <p:cNvPr id="14" name="Text 12"/>
          <p:cNvSpPr/>
          <p:nvPr/>
        </p:nvSpPr>
        <p:spPr>
          <a:xfrm>
            <a:off x="548640" y="3520440"/>
            <a:ext cx="320040" cy="320040"/>
          </a:xfrm>
          <a:prstGeom prst="ellipse">
            <a:avLst/>
          </a:prstGeom>
          <a:solidFill>
            <a:srgbClr val="3B82F6"/>
          </a:solid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6</a:t>
            </a:r>
            <a:endParaRPr lang="en-US" sz="1100" dirty="0"/>
          </a:p>
        </p:txBody>
      </p:sp>
      <p:sp>
        <p:nvSpPr>
          <p:cNvPr id="15" name="Text 13"/>
          <p:cNvSpPr/>
          <p:nvPr/>
        </p:nvSpPr>
        <p:spPr>
          <a:xfrm>
            <a:off x="987552" y="3520440"/>
            <a:ext cx="3200400" cy="320040"/>
          </a:xfrm>
          <a:prstGeom prst="rect">
            <a:avLst/>
          </a:prstGeom>
          <a:noFill/>
          <a:ln/>
        </p:spPr>
        <p:txBody>
          <a:bodyPr wrap="square" lIns="0" tIns="0" rIns="0" bIns="0" rtlCol="0" anchor="ctr"/>
          <a:lstStyle/>
          <a:p>
            <a:pPr marL="0" indent="0" algn="l">
              <a:buNone/>
            </a:pPr>
            <a:r>
              <a:rPr lang="en-US" sz="1300" dirty="0">
                <a:solidFill>
                  <a:srgbClr val="1E293B"/>
                </a:solidFill>
                <a:latin typeface="Calibri" pitchFamily="34" charset="0"/>
                <a:ea typeface="Calibri" pitchFamily="34" charset="-122"/>
                <a:cs typeface="Calibri" pitchFamily="34" charset="-120"/>
              </a:rPr>
              <a:t>Deployment</a:t>
            </a:r>
            <a:endParaRPr lang="en-US" sz="1300" dirty="0"/>
          </a:p>
        </p:txBody>
      </p:sp>
      <p:sp>
        <p:nvSpPr>
          <p:cNvPr id="16" name="Text 14"/>
          <p:cNvSpPr/>
          <p:nvPr/>
        </p:nvSpPr>
        <p:spPr>
          <a:xfrm>
            <a:off x="548640" y="4014216"/>
            <a:ext cx="320040" cy="320040"/>
          </a:xfrm>
          <a:prstGeom prst="ellipse">
            <a:avLst/>
          </a:prstGeom>
          <a:solidFill>
            <a:srgbClr val="3B82F6"/>
          </a:solid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7</a:t>
            </a:r>
            <a:endParaRPr lang="en-US" sz="1100" dirty="0"/>
          </a:p>
        </p:txBody>
      </p:sp>
      <p:sp>
        <p:nvSpPr>
          <p:cNvPr id="17" name="Text 15"/>
          <p:cNvSpPr/>
          <p:nvPr/>
        </p:nvSpPr>
        <p:spPr>
          <a:xfrm>
            <a:off x="987552" y="4014216"/>
            <a:ext cx="3200400" cy="320040"/>
          </a:xfrm>
          <a:prstGeom prst="rect">
            <a:avLst/>
          </a:prstGeom>
          <a:noFill/>
          <a:ln/>
        </p:spPr>
        <p:txBody>
          <a:bodyPr wrap="square" lIns="0" tIns="0" rIns="0" bIns="0" rtlCol="0" anchor="ctr"/>
          <a:lstStyle/>
          <a:p>
            <a:pPr marL="0" indent="0" algn="l">
              <a:buNone/>
            </a:pPr>
            <a:r>
              <a:rPr lang="en-US" sz="1300" dirty="0">
                <a:solidFill>
                  <a:srgbClr val="1E293B"/>
                </a:solidFill>
                <a:latin typeface="Calibri" pitchFamily="34" charset="0"/>
                <a:ea typeface="Calibri" pitchFamily="34" charset="-122"/>
                <a:cs typeface="Calibri" pitchFamily="34" charset="-120"/>
              </a:rPr>
              <a:t>Review and Feedback</a:t>
            </a:r>
            <a:endParaRPr lang="en-US" sz="1300" dirty="0"/>
          </a:p>
        </p:txBody>
      </p:sp>
      <p:pic>
        <p:nvPicPr>
          <p:cNvPr id="18" name="Image 0" descr="icon_sync.sv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11680" y="4526280"/>
            <a:ext cx="320040" cy="320040"/>
          </a:xfrm>
          <a:prstGeom prst="rect">
            <a:avLst/>
          </a:prstGeom>
        </p:spPr>
      </p:pic>
      <p:sp>
        <p:nvSpPr>
          <p:cNvPr id="19" name="Text 16"/>
          <p:cNvSpPr/>
          <p:nvPr/>
        </p:nvSpPr>
        <p:spPr>
          <a:xfrm>
            <a:off x="2377440" y="4526280"/>
            <a:ext cx="1828800" cy="320040"/>
          </a:xfrm>
          <a:prstGeom prst="rect">
            <a:avLst/>
          </a:prstGeom>
          <a:noFill/>
          <a:ln/>
        </p:spPr>
        <p:txBody>
          <a:bodyPr wrap="square" lIns="0" tIns="0" rIns="0" bIns="0" rtlCol="0" anchor="ctr"/>
          <a:lstStyle/>
          <a:p>
            <a:pPr marL="0" indent="0" algn="l">
              <a:buNone/>
            </a:pPr>
            <a:r>
              <a:rPr lang="en-US" sz="1000" i="1" dirty="0">
                <a:solidFill>
                  <a:srgbClr val="94A3B8"/>
                </a:solidFill>
                <a:latin typeface="Calibri" pitchFamily="34" charset="0"/>
                <a:ea typeface="Calibri" pitchFamily="34" charset="-122"/>
                <a:cs typeface="Calibri" pitchFamily="34" charset="-120"/>
              </a:rPr>
              <a:t>Iterative Process</a:t>
            </a:r>
            <a:endParaRPr lang="en-US" sz="1000" dirty="0"/>
          </a:p>
        </p:txBody>
      </p:sp>
      <p:sp>
        <p:nvSpPr>
          <p:cNvPr id="20" name="Shape 17"/>
          <p:cNvSpPr/>
          <p:nvPr/>
        </p:nvSpPr>
        <p:spPr>
          <a:xfrm>
            <a:off x="4846320" y="1051560"/>
            <a:ext cx="3840480" cy="3474720"/>
          </a:xfrm>
          <a:prstGeom prst="roundRect">
            <a:avLst>
              <a:gd name="adj" fmla="val 1316"/>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21" name="Text 18"/>
          <p:cNvSpPr/>
          <p:nvPr/>
        </p:nvSpPr>
        <p:spPr>
          <a:xfrm>
            <a:off x="5029200" y="1234440"/>
            <a:ext cx="3474720" cy="365760"/>
          </a:xfrm>
          <a:prstGeom prst="rect">
            <a:avLst/>
          </a:prstGeom>
          <a:noFill/>
          <a:ln/>
        </p:spPr>
        <p:txBody>
          <a:bodyPr wrap="square" lIns="0" tIns="0" rIns="0" bIns="0" rtlCol="0" anchor="ctr"/>
          <a:lstStyle/>
          <a:p>
            <a:pPr marL="0" indent="0" algn="l">
              <a:buNone/>
            </a:pPr>
            <a:r>
              <a:rPr lang="en-US" sz="1500" b="1" dirty="0">
                <a:solidFill>
                  <a:srgbClr val="3B82F6"/>
                </a:solidFill>
                <a:latin typeface="Calibri" pitchFamily="34" charset="0"/>
                <a:ea typeface="Calibri" pitchFamily="34" charset="-122"/>
                <a:cs typeface="Calibri" pitchFamily="34" charset="-120"/>
              </a:rPr>
              <a:t>Key Characteristics</a:t>
            </a:r>
            <a:endParaRPr lang="en-US" sz="1500" dirty="0"/>
          </a:p>
        </p:txBody>
      </p:sp>
      <p:sp>
        <p:nvSpPr>
          <p:cNvPr id="22" name="Text 19"/>
          <p:cNvSpPr/>
          <p:nvPr/>
        </p:nvSpPr>
        <p:spPr>
          <a:xfrm>
            <a:off x="5120640" y="1691640"/>
            <a:ext cx="3383280" cy="2560320"/>
          </a:xfrm>
          <a:prstGeom prst="rect">
            <a:avLst/>
          </a:prstGeom>
          <a:noFill/>
          <a:ln/>
        </p:spPr>
        <p:txBody>
          <a:bodyPr wrap="square" rtlCol="0" anchor="t"/>
          <a:lstStyle/>
          <a:p>
            <a:pPr marL="342900" indent="-342900" algn="l">
              <a:spcAft>
                <a:spcPts val="1000"/>
              </a:spcAft>
              <a:buSzPct val="100000"/>
              <a:buChar char="✓"/>
            </a:pPr>
            <a:r>
              <a:rPr lang="en-US" sz="1300" dirty="0">
                <a:solidFill>
                  <a:srgbClr val="475569"/>
                </a:solidFill>
                <a:latin typeface="Calibri" pitchFamily="34" charset="0"/>
                <a:ea typeface="Calibri" pitchFamily="34" charset="-122"/>
                <a:cs typeface="Calibri" pitchFamily="34" charset="-120"/>
              </a:rPr>
              <a:t>Iterative process</a:t>
            </a:r>
            <a:endParaRPr lang="en-US" sz="1300" dirty="0"/>
          </a:p>
          <a:p>
            <a:pPr marL="342900" indent="-342900" algn="l">
              <a:spcAft>
                <a:spcPts val="1000"/>
              </a:spcAft>
              <a:buSzPct val="100000"/>
              <a:buChar char="✓"/>
            </a:pPr>
            <a:r>
              <a:rPr lang="en-US" sz="1300" dirty="0">
                <a:solidFill>
                  <a:srgbClr val="475569"/>
                </a:solidFill>
                <a:latin typeface="Calibri" pitchFamily="34" charset="0"/>
                <a:ea typeface="Calibri" pitchFamily="34" charset="-122"/>
                <a:cs typeface="Calibri" pitchFamily="34" charset="-120"/>
              </a:rPr>
              <a:t>Frequent stakeholder feedback</a:t>
            </a:r>
            <a:endParaRPr lang="en-US" sz="1300" dirty="0"/>
          </a:p>
          <a:p>
            <a:pPr marL="342900" indent="-342900" algn="l">
              <a:spcAft>
                <a:spcPts val="1000"/>
              </a:spcAft>
              <a:buSzPct val="100000"/>
              <a:buChar char="✓"/>
            </a:pPr>
            <a:r>
              <a:rPr lang="en-US" sz="1300" dirty="0">
                <a:solidFill>
                  <a:srgbClr val="475569"/>
                </a:solidFill>
                <a:latin typeface="Calibri" pitchFamily="34" charset="0"/>
                <a:ea typeface="Calibri" pitchFamily="34" charset="-122"/>
                <a:cs typeface="Calibri" pitchFamily="34" charset="-120"/>
              </a:rPr>
              <a:t>Continuous improvement</a:t>
            </a:r>
            <a:endParaRPr lang="en-US" sz="1300" dirty="0"/>
          </a:p>
          <a:p>
            <a:pPr marL="342900" indent="-342900" algn="l">
              <a:spcAft>
                <a:spcPts val="1000"/>
              </a:spcAft>
              <a:buSzPct val="100000"/>
              <a:buChar char="✓"/>
            </a:pPr>
            <a:r>
              <a:rPr lang="en-US" sz="1300" dirty="0">
                <a:solidFill>
                  <a:srgbClr val="475569"/>
                </a:solidFill>
                <a:latin typeface="Calibri" pitchFamily="34" charset="0"/>
                <a:ea typeface="Calibri" pitchFamily="34" charset="-122"/>
                <a:cs typeface="Calibri" pitchFamily="34" charset="-120"/>
              </a:rPr>
              <a:t>Flexible and adaptive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744"/>
          </a:solidFill>
          <a:ln/>
        </p:spPr>
        <p:txBody>
          <a:bodyPr/>
          <a:lstStyle/>
          <a:p>
            <a:endParaRPr lang="en-US"/>
          </a:p>
        </p:txBody>
      </p:sp>
      <p:sp>
        <p:nvSpPr>
          <p:cNvPr id="3" name="Text 1"/>
          <p:cNvSpPr/>
          <p:nvPr/>
        </p:nvSpPr>
        <p:spPr>
          <a:xfrm>
            <a:off x="548640" y="109728"/>
            <a:ext cx="8046720" cy="594360"/>
          </a:xfrm>
          <a:prstGeom prst="rect">
            <a:avLst/>
          </a:prstGeom>
          <a:noFill/>
          <a:ln/>
        </p:spPr>
        <p:txBody>
          <a:bodyPr wrap="square" lIns="0" tIns="0" rIns="0" bIns="0" rtlCol="0" anchor="ctr"/>
          <a:lstStyle/>
          <a:p>
            <a:pPr marL="0" indent="0" algn="l">
              <a:buNone/>
            </a:pPr>
            <a:r>
              <a:rPr lang="en-US" sz="2600" dirty="0">
                <a:solidFill>
                  <a:srgbClr val="FFFFFF"/>
                </a:solidFill>
                <a:latin typeface="Georgia" pitchFamily="34" charset="0"/>
                <a:ea typeface="Georgia" pitchFamily="34" charset="-122"/>
                <a:cs typeface="Georgia" pitchFamily="34" charset="-120"/>
              </a:rPr>
              <a:t>Waterfall Software Development Model</a:t>
            </a:r>
            <a:endParaRPr lang="en-US" sz="2600" dirty="0"/>
          </a:p>
        </p:txBody>
      </p:sp>
      <p:sp>
        <p:nvSpPr>
          <p:cNvPr id="4" name="Text 2"/>
          <p:cNvSpPr/>
          <p:nvPr/>
        </p:nvSpPr>
        <p:spPr>
          <a:xfrm>
            <a:off x="457200" y="1097280"/>
            <a:ext cx="2560320" cy="438912"/>
          </a:xfrm>
          <a:prstGeom prst="roundRect">
            <a:avLst>
              <a:gd name="adj" fmla="val 8333"/>
            </a:avLst>
          </a:prstGeom>
          <a:solidFill>
            <a:srgbClr val="1A2744"/>
          </a:solidFill>
          <a:ln/>
          <a:effectLst>
            <a:outerShdw blurRad="76200" dist="25400" dir="8100000" algn="bl" rotWithShape="0">
              <a:srgbClr val="000000">
                <a:alpha val="8000"/>
              </a:srgbClr>
            </a:outerShdw>
          </a:effectLst>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Requirements</a:t>
            </a:r>
            <a:endParaRPr lang="en-US" sz="1200" dirty="0"/>
          </a:p>
        </p:txBody>
      </p:sp>
      <p:sp>
        <p:nvSpPr>
          <p:cNvPr id="5" name="Shape 3"/>
          <p:cNvSpPr/>
          <p:nvPr/>
        </p:nvSpPr>
        <p:spPr>
          <a:xfrm>
            <a:off x="1737360" y="1536192"/>
            <a:ext cx="228600" cy="128016"/>
          </a:xfrm>
          <a:prstGeom prst="line">
            <a:avLst/>
          </a:prstGeom>
          <a:noFill/>
          <a:ln w="19050">
            <a:solidFill>
              <a:srgbClr val="94A3B8"/>
            </a:solidFill>
            <a:prstDash val="solid"/>
            <a:tailEnd type="arrow"/>
          </a:ln>
        </p:spPr>
        <p:txBody>
          <a:bodyPr/>
          <a:lstStyle/>
          <a:p>
            <a:endParaRPr lang="en-US"/>
          </a:p>
        </p:txBody>
      </p:sp>
      <p:sp>
        <p:nvSpPr>
          <p:cNvPr id="6" name="Text 4"/>
          <p:cNvSpPr/>
          <p:nvPr/>
        </p:nvSpPr>
        <p:spPr>
          <a:xfrm>
            <a:off x="685800" y="1664208"/>
            <a:ext cx="2560320" cy="438912"/>
          </a:xfrm>
          <a:prstGeom prst="roundRect">
            <a:avLst>
              <a:gd name="adj" fmla="val 8333"/>
            </a:avLst>
          </a:prstGeom>
          <a:solidFill>
            <a:srgbClr val="475569"/>
          </a:solidFill>
          <a:ln/>
          <a:effectLst>
            <a:outerShdw blurRad="76200" dist="25400" dir="8100000" algn="bl" rotWithShape="0">
              <a:srgbClr val="000000">
                <a:alpha val="8000"/>
              </a:srgbClr>
            </a:outerShdw>
          </a:effectLst>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Design</a:t>
            </a:r>
            <a:endParaRPr lang="en-US" sz="1200" dirty="0"/>
          </a:p>
        </p:txBody>
      </p:sp>
      <p:sp>
        <p:nvSpPr>
          <p:cNvPr id="7" name="Shape 5"/>
          <p:cNvSpPr/>
          <p:nvPr/>
        </p:nvSpPr>
        <p:spPr>
          <a:xfrm>
            <a:off x="1965960" y="2103120"/>
            <a:ext cx="228600" cy="128016"/>
          </a:xfrm>
          <a:prstGeom prst="line">
            <a:avLst/>
          </a:prstGeom>
          <a:noFill/>
          <a:ln w="19050">
            <a:solidFill>
              <a:srgbClr val="94A3B8"/>
            </a:solidFill>
            <a:prstDash val="solid"/>
            <a:tailEnd type="arrow"/>
          </a:ln>
        </p:spPr>
        <p:txBody>
          <a:bodyPr/>
          <a:lstStyle/>
          <a:p>
            <a:endParaRPr lang="en-US"/>
          </a:p>
        </p:txBody>
      </p:sp>
      <p:sp>
        <p:nvSpPr>
          <p:cNvPr id="8" name="Text 6"/>
          <p:cNvSpPr/>
          <p:nvPr/>
        </p:nvSpPr>
        <p:spPr>
          <a:xfrm>
            <a:off x="914400" y="2231136"/>
            <a:ext cx="2560320" cy="438912"/>
          </a:xfrm>
          <a:prstGeom prst="roundRect">
            <a:avLst>
              <a:gd name="adj" fmla="val 8333"/>
            </a:avLst>
          </a:prstGeom>
          <a:solidFill>
            <a:srgbClr val="334155"/>
          </a:solidFill>
          <a:ln/>
          <a:effectLst>
            <a:outerShdw blurRad="76200" dist="25400" dir="8100000" algn="bl" rotWithShape="0">
              <a:srgbClr val="000000">
                <a:alpha val="8000"/>
              </a:srgbClr>
            </a:outerShdw>
          </a:effectLst>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Implementation</a:t>
            </a:r>
            <a:endParaRPr lang="en-US" sz="1200" dirty="0"/>
          </a:p>
        </p:txBody>
      </p:sp>
      <p:sp>
        <p:nvSpPr>
          <p:cNvPr id="9" name="Shape 7"/>
          <p:cNvSpPr/>
          <p:nvPr/>
        </p:nvSpPr>
        <p:spPr>
          <a:xfrm>
            <a:off x="2194560" y="2670048"/>
            <a:ext cx="228600" cy="128016"/>
          </a:xfrm>
          <a:prstGeom prst="line">
            <a:avLst/>
          </a:prstGeom>
          <a:noFill/>
          <a:ln w="19050">
            <a:solidFill>
              <a:srgbClr val="94A3B8"/>
            </a:solidFill>
            <a:prstDash val="solid"/>
            <a:tailEnd type="arrow"/>
          </a:ln>
        </p:spPr>
        <p:txBody>
          <a:bodyPr/>
          <a:lstStyle/>
          <a:p>
            <a:endParaRPr lang="en-US"/>
          </a:p>
        </p:txBody>
      </p:sp>
      <p:sp>
        <p:nvSpPr>
          <p:cNvPr id="10" name="Text 8"/>
          <p:cNvSpPr/>
          <p:nvPr/>
        </p:nvSpPr>
        <p:spPr>
          <a:xfrm>
            <a:off x="1143000" y="2798064"/>
            <a:ext cx="2560320" cy="438912"/>
          </a:xfrm>
          <a:prstGeom prst="roundRect">
            <a:avLst>
              <a:gd name="adj" fmla="val 8333"/>
            </a:avLst>
          </a:prstGeom>
          <a:solidFill>
            <a:srgbClr val="475569"/>
          </a:solidFill>
          <a:ln/>
          <a:effectLst>
            <a:outerShdw blurRad="76200" dist="25400" dir="8100000" algn="bl" rotWithShape="0">
              <a:srgbClr val="000000">
                <a:alpha val="8000"/>
              </a:srgbClr>
            </a:outerShdw>
          </a:effectLst>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Testing</a:t>
            </a:r>
            <a:endParaRPr lang="en-US" sz="1200" dirty="0"/>
          </a:p>
        </p:txBody>
      </p:sp>
      <p:sp>
        <p:nvSpPr>
          <p:cNvPr id="11" name="Shape 9"/>
          <p:cNvSpPr/>
          <p:nvPr/>
        </p:nvSpPr>
        <p:spPr>
          <a:xfrm>
            <a:off x="2423160" y="3236976"/>
            <a:ext cx="228600" cy="128016"/>
          </a:xfrm>
          <a:prstGeom prst="line">
            <a:avLst/>
          </a:prstGeom>
          <a:noFill/>
          <a:ln w="19050">
            <a:solidFill>
              <a:srgbClr val="94A3B8"/>
            </a:solidFill>
            <a:prstDash val="solid"/>
            <a:tailEnd type="arrow"/>
          </a:ln>
        </p:spPr>
        <p:txBody>
          <a:bodyPr/>
          <a:lstStyle/>
          <a:p>
            <a:endParaRPr lang="en-US"/>
          </a:p>
        </p:txBody>
      </p:sp>
      <p:sp>
        <p:nvSpPr>
          <p:cNvPr id="12" name="Text 10"/>
          <p:cNvSpPr/>
          <p:nvPr/>
        </p:nvSpPr>
        <p:spPr>
          <a:xfrm>
            <a:off x="1371600" y="3364992"/>
            <a:ext cx="2560320" cy="438912"/>
          </a:xfrm>
          <a:prstGeom prst="roundRect">
            <a:avLst>
              <a:gd name="adj" fmla="val 8333"/>
            </a:avLst>
          </a:prstGeom>
          <a:solidFill>
            <a:srgbClr val="334155"/>
          </a:solidFill>
          <a:ln/>
          <a:effectLst>
            <a:outerShdw blurRad="76200" dist="25400" dir="8100000" algn="bl" rotWithShape="0">
              <a:srgbClr val="000000">
                <a:alpha val="8000"/>
              </a:srgbClr>
            </a:outerShdw>
          </a:effectLst>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Deployment</a:t>
            </a:r>
            <a:endParaRPr lang="en-US" sz="1200" dirty="0"/>
          </a:p>
        </p:txBody>
      </p:sp>
      <p:sp>
        <p:nvSpPr>
          <p:cNvPr id="13" name="Shape 11"/>
          <p:cNvSpPr/>
          <p:nvPr/>
        </p:nvSpPr>
        <p:spPr>
          <a:xfrm>
            <a:off x="2651760" y="3803904"/>
            <a:ext cx="228600" cy="128016"/>
          </a:xfrm>
          <a:prstGeom prst="line">
            <a:avLst/>
          </a:prstGeom>
          <a:noFill/>
          <a:ln w="19050">
            <a:solidFill>
              <a:srgbClr val="94A3B8"/>
            </a:solidFill>
            <a:prstDash val="solid"/>
            <a:tailEnd type="arrow"/>
          </a:ln>
        </p:spPr>
        <p:txBody>
          <a:bodyPr/>
          <a:lstStyle/>
          <a:p>
            <a:endParaRPr lang="en-US"/>
          </a:p>
        </p:txBody>
      </p:sp>
      <p:sp>
        <p:nvSpPr>
          <p:cNvPr id="14" name="Text 12"/>
          <p:cNvSpPr/>
          <p:nvPr/>
        </p:nvSpPr>
        <p:spPr>
          <a:xfrm>
            <a:off x="1600200" y="3931920"/>
            <a:ext cx="2560320" cy="438912"/>
          </a:xfrm>
          <a:prstGeom prst="roundRect">
            <a:avLst>
              <a:gd name="adj" fmla="val 8333"/>
            </a:avLst>
          </a:prstGeom>
          <a:solidFill>
            <a:srgbClr val="475569"/>
          </a:solidFill>
          <a:ln/>
          <a:effectLst>
            <a:outerShdw blurRad="76200" dist="25400" dir="8100000" algn="bl" rotWithShape="0">
              <a:srgbClr val="000000">
                <a:alpha val="8000"/>
              </a:srgbClr>
            </a:outerShdw>
          </a:effectLst>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Maintenance</a:t>
            </a:r>
            <a:endParaRPr lang="en-US" sz="1200" dirty="0"/>
          </a:p>
        </p:txBody>
      </p:sp>
      <p:sp>
        <p:nvSpPr>
          <p:cNvPr id="15" name="Shape 13"/>
          <p:cNvSpPr/>
          <p:nvPr/>
        </p:nvSpPr>
        <p:spPr>
          <a:xfrm>
            <a:off x="5029200" y="1097280"/>
            <a:ext cx="3657600" cy="3291840"/>
          </a:xfrm>
          <a:prstGeom prst="roundRect">
            <a:avLst>
              <a:gd name="adj" fmla="val 1389"/>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16" name="Text 14"/>
          <p:cNvSpPr/>
          <p:nvPr/>
        </p:nvSpPr>
        <p:spPr>
          <a:xfrm>
            <a:off x="5212080" y="1280160"/>
            <a:ext cx="3291840" cy="365760"/>
          </a:xfrm>
          <a:prstGeom prst="rect">
            <a:avLst/>
          </a:prstGeom>
          <a:noFill/>
          <a:ln/>
        </p:spPr>
        <p:txBody>
          <a:bodyPr wrap="square" lIns="0" tIns="0" rIns="0" bIns="0" rtlCol="0" anchor="ctr"/>
          <a:lstStyle/>
          <a:p>
            <a:pPr marL="0" indent="0" algn="l">
              <a:buNone/>
            </a:pPr>
            <a:r>
              <a:rPr lang="en-US" sz="1500" b="1" dirty="0">
                <a:solidFill>
                  <a:srgbClr val="1A2744"/>
                </a:solidFill>
                <a:latin typeface="Calibri" pitchFamily="34" charset="0"/>
                <a:ea typeface="Calibri" pitchFamily="34" charset="-122"/>
                <a:cs typeface="Calibri" pitchFamily="34" charset="-120"/>
              </a:rPr>
              <a:t>Key Characteristics</a:t>
            </a:r>
            <a:endParaRPr lang="en-US" sz="1500" dirty="0"/>
          </a:p>
        </p:txBody>
      </p:sp>
      <p:sp>
        <p:nvSpPr>
          <p:cNvPr id="17" name="Text 15"/>
          <p:cNvSpPr/>
          <p:nvPr/>
        </p:nvSpPr>
        <p:spPr>
          <a:xfrm>
            <a:off x="5303520" y="1737360"/>
            <a:ext cx="3200400" cy="2377440"/>
          </a:xfrm>
          <a:prstGeom prst="rect">
            <a:avLst/>
          </a:prstGeom>
          <a:noFill/>
          <a:ln/>
        </p:spPr>
        <p:txBody>
          <a:bodyPr wrap="square" rtlCol="0" anchor="t"/>
          <a:lstStyle/>
          <a:p>
            <a:pPr marL="342900" indent="-342900" algn="l">
              <a:spcAft>
                <a:spcPts val="1000"/>
              </a:spcAft>
              <a:buSzPct val="100000"/>
              <a:buChar char="●"/>
            </a:pPr>
            <a:r>
              <a:rPr lang="en-US" sz="1300" dirty="0">
                <a:solidFill>
                  <a:srgbClr val="475569"/>
                </a:solidFill>
                <a:latin typeface="Calibri" pitchFamily="34" charset="0"/>
                <a:ea typeface="Calibri" pitchFamily="34" charset="-122"/>
                <a:cs typeface="Calibri" pitchFamily="34" charset="-120"/>
              </a:rPr>
              <a:t>Sequential process</a:t>
            </a:r>
            <a:endParaRPr lang="en-US" sz="1300" dirty="0"/>
          </a:p>
          <a:p>
            <a:pPr marL="342900" indent="-342900" algn="l">
              <a:spcAft>
                <a:spcPts val="1000"/>
              </a:spcAft>
              <a:buSzPct val="100000"/>
              <a:buChar char="●"/>
            </a:pPr>
            <a:r>
              <a:rPr lang="en-US" sz="1300" dirty="0">
                <a:solidFill>
                  <a:srgbClr val="475569"/>
                </a:solidFill>
                <a:latin typeface="Calibri" pitchFamily="34" charset="0"/>
                <a:ea typeface="Calibri" pitchFamily="34" charset="-122"/>
                <a:cs typeface="Calibri" pitchFamily="34" charset="-120"/>
              </a:rPr>
              <a:t>Limited flexibility</a:t>
            </a:r>
            <a:endParaRPr lang="en-US" sz="1300" dirty="0"/>
          </a:p>
          <a:p>
            <a:pPr marL="342900" indent="-342900" algn="l">
              <a:spcAft>
                <a:spcPts val="1000"/>
              </a:spcAft>
              <a:buSzPct val="100000"/>
              <a:buChar char="●"/>
            </a:pPr>
            <a:r>
              <a:rPr lang="en-US" sz="1300" dirty="0">
                <a:solidFill>
                  <a:srgbClr val="475569"/>
                </a:solidFill>
                <a:latin typeface="Calibri" pitchFamily="34" charset="0"/>
                <a:ea typeface="Calibri" pitchFamily="34" charset="-122"/>
                <a:cs typeface="Calibri" pitchFamily="34" charset="-120"/>
              </a:rPr>
              <a:t>Changes are difficult to implement</a:t>
            </a:r>
            <a:endParaRPr lang="en-US" sz="1300" dirty="0"/>
          </a:p>
          <a:p>
            <a:pPr marL="342900" indent="-342900" algn="l">
              <a:spcAft>
                <a:spcPts val="1000"/>
              </a:spcAft>
              <a:buSzPct val="100000"/>
              <a:buChar char="●"/>
            </a:pPr>
            <a:r>
              <a:rPr lang="en-US" sz="1300" dirty="0">
                <a:solidFill>
                  <a:srgbClr val="475569"/>
                </a:solidFill>
                <a:latin typeface="Calibri" pitchFamily="34" charset="0"/>
                <a:ea typeface="Calibri" pitchFamily="34" charset="-122"/>
                <a:cs typeface="Calibri" pitchFamily="34" charset="-120"/>
              </a:rPr>
              <a:t>Testing occurs later in development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744"/>
          </a:solidFill>
          <a:ln/>
        </p:spPr>
        <p:txBody>
          <a:bodyPr/>
          <a:lstStyle/>
          <a:p>
            <a:endParaRPr lang="en-US"/>
          </a:p>
        </p:txBody>
      </p:sp>
      <p:sp>
        <p:nvSpPr>
          <p:cNvPr id="3" name="Text 1"/>
          <p:cNvSpPr/>
          <p:nvPr/>
        </p:nvSpPr>
        <p:spPr>
          <a:xfrm>
            <a:off x="548640" y="109728"/>
            <a:ext cx="8046720" cy="594360"/>
          </a:xfrm>
          <a:prstGeom prst="rect">
            <a:avLst/>
          </a:prstGeom>
          <a:noFill/>
          <a:ln/>
        </p:spPr>
        <p:txBody>
          <a:bodyPr wrap="square" lIns="0" tIns="0" rIns="0" bIns="0" rtlCol="0" anchor="ctr"/>
          <a:lstStyle/>
          <a:p>
            <a:pPr marL="0" indent="0" algn="l">
              <a:buNone/>
            </a:pPr>
            <a:r>
              <a:rPr lang="en-US" sz="2800" dirty="0">
                <a:solidFill>
                  <a:srgbClr val="FFFFFF"/>
                </a:solidFill>
                <a:latin typeface="Georgia" pitchFamily="34" charset="0"/>
                <a:ea typeface="Georgia" pitchFamily="34" charset="-122"/>
                <a:cs typeface="Georgia" pitchFamily="34" charset="-120"/>
              </a:rPr>
              <a:t>Agile vs. Waterfall</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14400" y="1188720"/>
          <a:ext cx="7315200" cy="3017520"/>
        </p:xfrm>
        <a:graphic>
          <a:graphicData uri="http://schemas.openxmlformats.org/drawingml/2006/table">
            <a:tbl>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502920">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Agile</a:t>
                      </a:r>
                      <a:endParaRPr lang="en-US" sz="14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3B82F6"/>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Waterfall</a:t>
                      </a:r>
                      <a:endParaRPr lang="en-US" sz="14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A2744"/>
                    </a:solidFill>
                  </a:tcPr>
                </a:tc>
                <a:extLst>
                  <a:ext uri="{0D108BD9-81ED-4DB2-BD59-A6C34878D82A}">
                    <a16:rowId xmlns:a16="http://schemas.microsoft.com/office/drawing/2014/main" val="10000"/>
                  </a:ext>
                </a:extLst>
              </a:tr>
              <a:tr h="502920">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Iterative development</a:t>
                      </a:r>
                      <a:endParaRPr lang="en-US" sz="13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Sequential development</a:t>
                      </a:r>
                      <a:endParaRPr lang="en-US" sz="13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Flexible requirements</a:t>
                      </a:r>
                      <a:endParaRPr lang="en-US" sz="13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0F9FF"/>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Fixed requirements</a:t>
                      </a:r>
                      <a:endParaRPr lang="en-US" sz="13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0F4FF"/>
                    </a:solidFill>
                  </a:tcPr>
                </a:tc>
                <a:extLst>
                  <a:ext uri="{0D108BD9-81ED-4DB2-BD59-A6C34878D82A}">
                    <a16:rowId xmlns:a16="http://schemas.microsoft.com/office/drawing/2014/main" val="10002"/>
                  </a:ext>
                </a:extLst>
              </a:tr>
              <a:tr h="502920">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Continuous feedback</a:t>
                      </a:r>
                      <a:endParaRPr lang="en-US" sz="13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Limited feedback</a:t>
                      </a:r>
                      <a:endParaRPr lang="en-US" sz="13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Frequent releases</a:t>
                      </a:r>
                      <a:endParaRPr lang="en-US" sz="13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0F9FF"/>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Single final release</a:t>
                      </a:r>
                      <a:endParaRPr lang="en-US" sz="13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0F4FF"/>
                    </a:solidFill>
                  </a:tcPr>
                </a:tc>
                <a:extLst>
                  <a:ext uri="{0D108BD9-81ED-4DB2-BD59-A6C34878D82A}">
                    <a16:rowId xmlns:a16="http://schemas.microsoft.com/office/drawing/2014/main" val="10004"/>
                  </a:ext>
                </a:extLst>
              </a:tr>
              <a:tr h="502920">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Adapts to change</a:t>
                      </a:r>
                      <a:endParaRPr lang="en-US" sz="13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Difficult to change</a:t>
                      </a:r>
                      <a:endParaRPr lang="en-US" sz="13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pic>
        <p:nvPicPr>
          <p:cNvPr id="5" name="Image 0" descr="icon_check.sv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97280" y="4297680"/>
            <a:ext cx="228600" cy="228600"/>
          </a:xfrm>
          <a:prstGeom prst="rect">
            <a:avLst/>
          </a:prstGeom>
        </p:spPr>
      </p:pic>
      <p:sp>
        <p:nvSpPr>
          <p:cNvPr id="4" name="Text 2"/>
          <p:cNvSpPr/>
          <p:nvPr/>
        </p:nvSpPr>
        <p:spPr>
          <a:xfrm>
            <a:off x="1371600" y="4297680"/>
            <a:ext cx="3200400" cy="228600"/>
          </a:xfrm>
          <a:prstGeom prst="rect">
            <a:avLst/>
          </a:prstGeom>
          <a:noFill/>
          <a:ln/>
        </p:spPr>
        <p:txBody>
          <a:bodyPr wrap="square" lIns="0" tIns="0" rIns="0" bIns="0" rtlCol="0" anchor="ctr"/>
          <a:lstStyle/>
          <a:p>
            <a:pPr marL="0" indent="0" algn="l">
              <a:buNone/>
            </a:pPr>
            <a:r>
              <a:rPr lang="en-US" sz="1000" i="1" dirty="0">
                <a:solidFill>
                  <a:srgbClr val="94A3B8"/>
                </a:solidFill>
                <a:latin typeface="Calibri" pitchFamily="34" charset="0"/>
                <a:ea typeface="Calibri" pitchFamily="34" charset="-122"/>
                <a:cs typeface="Calibri" pitchFamily="34" charset="-120"/>
              </a:rPr>
              <a:t>Agile: flexibility &amp; collaboration</a:t>
            </a:r>
            <a:endParaRPr lang="en-US" sz="1000" dirty="0"/>
          </a:p>
        </p:txBody>
      </p:sp>
      <p:pic>
        <p:nvPicPr>
          <p:cNvPr id="7" name="Image 1" descr="icon_list.sv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29200" y="4297680"/>
            <a:ext cx="228600" cy="228600"/>
          </a:xfrm>
          <a:prstGeom prst="rect">
            <a:avLst/>
          </a:prstGeom>
        </p:spPr>
      </p:pic>
      <p:sp>
        <p:nvSpPr>
          <p:cNvPr id="8" name="Text 3"/>
          <p:cNvSpPr/>
          <p:nvPr/>
        </p:nvSpPr>
        <p:spPr>
          <a:xfrm>
            <a:off x="5303520" y="4297680"/>
            <a:ext cx="3200400" cy="228600"/>
          </a:xfrm>
          <a:prstGeom prst="rect">
            <a:avLst/>
          </a:prstGeom>
          <a:noFill/>
          <a:ln/>
        </p:spPr>
        <p:txBody>
          <a:bodyPr wrap="square" lIns="0" tIns="0" rIns="0" bIns="0" rtlCol="0" anchor="ctr"/>
          <a:lstStyle/>
          <a:p>
            <a:pPr marL="0" indent="0" algn="l">
              <a:buNone/>
            </a:pPr>
            <a:r>
              <a:rPr lang="en-US" sz="1000" i="1" dirty="0">
                <a:solidFill>
                  <a:srgbClr val="94A3B8"/>
                </a:solidFill>
                <a:latin typeface="Calibri" pitchFamily="34" charset="0"/>
                <a:ea typeface="Calibri" pitchFamily="34" charset="-122"/>
                <a:cs typeface="Calibri" pitchFamily="34" charset="-120"/>
              </a:rPr>
              <a:t>Waterfall: structure &amp; planning</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744"/>
          </a:solidFill>
          <a:ln/>
        </p:spPr>
        <p:txBody>
          <a:bodyPr/>
          <a:lstStyle/>
          <a:p>
            <a:endParaRPr lang="en-US"/>
          </a:p>
        </p:txBody>
      </p:sp>
      <p:sp>
        <p:nvSpPr>
          <p:cNvPr id="3" name="Text 1"/>
          <p:cNvSpPr/>
          <p:nvPr/>
        </p:nvSpPr>
        <p:spPr>
          <a:xfrm>
            <a:off x="548640" y="109728"/>
            <a:ext cx="8046720" cy="594360"/>
          </a:xfrm>
          <a:prstGeom prst="rect">
            <a:avLst/>
          </a:prstGeom>
          <a:noFill/>
          <a:ln/>
        </p:spPr>
        <p:txBody>
          <a:bodyPr wrap="square" lIns="0" tIns="0" rIns="0" bIns="0" rtlCol="0" anchor="ctr"/>
          <a:lstStyle/>
          <a:p>
            <a:pPr marL="0" indent="0" algn="l">
              <a:buNone/>
            </a:pPr>
            <a:r>
              <a:rPr lang="en-US" sz="2600" dirty="0">
                <a:solidFill>
                  <a:srgbClr val="FFFFFF"/>
                </a:solidFill>
                <a:latin typeface="Georgia" pitchFamily="34" charset="0"/>
                <a:ea typeface="Georgia" pitchFamily="34" charset="-122"/>
                <a:cs typeface="Georgia" pitchFamily="34" charset="-120"/>
              </a:rPr>
              <a:t>Agile for the SNHU Travel Project</a:t>
            </a:r>
            <a:endParaRPr lang="en-US" sz="2600" dirty="0"/>
          </a:p>
        </p:txBody>
      </p:sp>
      <p:sp>
        <p:nvSpPr>
          <p:cNvPr id="4" name="Shape 2"/>
          <p:cNvSpPr/>
          <p:nvPr/>
        </p:nvSpPr>
        <p:spPr>
          <a:xfrm>
            <a:off x="457200" y="1051560"/>
            <a:ext cx="3931920" cy="2926080"/>
          </a:xfrm>
          <a:prstGeom prst="roundRect">
            <a:avLst>
              <a:gd name="adj" fmla="val 1563"/>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5" name="Text 3"/>
          <p:cNvSpPr/>
          <p:nvPr/>
        </p:nvSpPr>
        <p:spPr>
          <a:xfrm>
            <a:off x="640080" y="1188720"/>
            <a:ext cx="3566160" cy="365760"/>
          </a:xfrm>
          <a:prstGeom prst="rect">
            <a:avLst/>
          </a:prstGeom>
          <a:noFill/>
          <a:ln/>
        </p:spPr>
        <p:txBody>
          <a:bodyPr wrap="square" lIns="0" tIns="0" rIns="0" bIns="0" rtlCol="0" anchor="ctr"/>
          <a:lstStyle/>
          <a:p>
            <a:pPr marL="0" indent="0" algn="l">
              <a:buNone/>
            </a:pPr>
            <a:r>
              <a:rPr lang="en-US" sz="1500" b="1" dirty="0">
                <a:solidFill>
                  <a:srgbClr val="10B981"/>
                </a:solidFill>
                <a:latin typeface="Calibri" pitchFamily="34" charset="0"/>
                <a:ea typeface="Calibri" pitchFamily="34" charset="-122"/>
                <a:cs typeface="Calibri" pitchFamily="34" charset="-120"/>
              </a:rPr>
              <a:t>Advantages</a:t>
            </a:r>
            <a:endParaRPr lang="en-US" sz="1500" dirty="0"/>
          </a:p>
        </p:txBody>
      </p:sp>
      <p:sp>
        <p:nvSpPr>
          <p:cNvPr id="6" name="Text 4"/>
          <p:cNvSpPr/>
          <p:nvPr/>
        </p:nvSpPr>
        <p:spPr>
          <a:xfrm>
            <a:off x="731520" y="1600200"/>
            <a:ext cx="3474720" cy="2194560"/>
          </a:xfrm>
          <a:prstGeom prst="rect">
            <a:avLst/>
          </a:prstGeom>
          <a:noFill/>
          <a:ln/>
        </p:spPr>
        <p:txBody>
          <a:bodyPr wrap="square" rtlCol="0" anchor="t"/>
          <a:lstStyle/>
          <a:p>
            <a:pPr marL="342900" indent="-342900" algn="l">
              <a:spcAft>
                <a:spcPts val="800"/>
              </a:spcAft>
              <a:buSzPct val="100000"/>
              <a:buChar char="✓"/>
            </a:pPr>
            <a:r>
              <a:rPr lang="en-US" sz="1200" dirty="0">
                <a:solidFill>
                  <a:srgbClr val="475569"/>
                </a:solidFill>
                <a:latin typeface="Calibri" pitchFamily="34" charset="0"/>
                <a:ea typeface="Calibri" pitchFamily="34" charset="-122"/>
                <a:cs typeface="Calibri" pitchFamily="34" charset="-120"/>
              </a:rPr>
              <a:t>Adapted to changing requirements</a:t>
            </a:r>
            <a:endParaRPr lang="en-US" sz="1200" dirty="0"/>
          </a:p>
          <a:p>
            <a:pPr marL="342900" indent="-342900" algn="l">
              <a:spcAft>
                <a:spcPts val="800"/>
              </a:spcAft>
              <a:buSzPct val="100000"/>
              <a:buChar char="✓"/>
            </a:pPr>
            <a:r>
              <a:rPr lang="en-US" sz="1200" dirty="0">
                <a:solidFill>
                  <a:srgbClr val="475569"/>
                </a:solidFill>
                <a:latin typeface="Calibri" pitchFamily="34" charset="0"/>
                <a:ea typeface="Calibri" pitchFamily="34" charset="-122"/>
                <a:cs typeface="Calibri" pitchFamily="34" charset="-120"/>
              </a:rPr>
              <a:t>Allowed continuous stakeholder feedback</a:t>
            </a:r>
            <a:endParaRPr lang="en-US" sz="1200" dirty="0"/>
          </a:p>
          <a:p>
            <a:pPr marL="342900" indent="-342900" algn="l">
              <a:spcAft>
                <a:spcPts val="800"/>
              </a:spcAft>
              <a:buSzPct val="100000"/>
              <a:buChar char="✓"/>
            </a:pPr>
            <a:r>
              <a:rPr lang="en-US" sz="1200" dirty="0">
                <a:solidFill>
                  <a:srgbClr val="475569"/>
                </a:solidFill>
                <a:latin typeface="Calibri" pitchFamily="34" charset="0"/>
                <a:ea typeface="Calibri" pitchFamily="34" charset="-122"/>
                <a:cs typeface="Calibri" pitchFamily="34" charset="-120"/>
              </a:rPr>
              <a:t>Improved team collaboration</a:t>
            </a:r>
            <a:endParaRPr lang="en-US" sz="1200" dirty="0"/>
          </a:p>
          <a:p>
            <a:pPr marL="342900" indent="-342900" algn="l">
              <a:spcAft>
                <a:spcPts val="800"/>
              </a:spcAft>
              <a:buSzPct val="100000"/>
              <a:buChar char="✓"/>
            </a:pPr>
            <a:r>
              <a:rPr lang="en-US" sz="1200" dirty="0">
                <a:solidFill>
                  <a:srgbClr val="475569"/>
                </a:solidFill>
                <a:latin typeface="Calibri" pitchFamily="34" charset="0"/>
                <a:ea typeface="Calibri" pitchFamily="34" charset="-122"/>
                <a:cs typeface="Calibri" pitchFamily="34" charset="-120"/>
              </a:rPr>
              <a:t>Delivered functionality incrementally</a:t>
            </a:r>
            <a:endParaRPr lang="en-US" sz="1200" dirty="0"/>
          </a:p>
        </p:txBody>
      </p:sp>
      <p:sp>
        <p:nvSpPr>
          <p:cNvPr id="7" name="Shape 5"/>
          <p:cNvSpPr/>
          <p:nvPr/>
        </p:nvSpPr>
        <p:spPr>
          <a:xfrm>
            <a:off x="4754880" y="1051560"/>
            <a:ext cx="3931920" cy="1828800"/>
          </a:xfrm>
          <a:prstGeom prst="roundRect">
            <a:avLst>
              <a:gd name="adj" fmla="val 2500"/>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8" name="Text 6"/>
          <p:cNvSpPr/>
          <p:nvPr/>
        </p:nvSpPr>
        <p:spPr>
          <a:xfrm>
            <a:off x="4937760" y="1188720"/>
            <a:ext cx="3566160" cy="365760"/>
          </a:xfrm>
          <a:prstGeom prst="rect">
            <a:avLst/>
          </a:prstGeom>
          <a:noFill/>
          <a:ln/>
        </p:spPr>
        <p:txBody>
          <a:bodyPr wrap="square" lIns="0" tIns="0" rIns="0" bIns="0" rtlCol="0" anchor="ctr"/>
          <a:lstStyle/>
          <a:p>
            <a:pPr marL="0" indent="0" algn="l">
              <a:buNone/>
            </a:pPr>
            <a:r>
              <a:rPr lang="en-US" sz="1500" b="1" dirty="0">
                <a:solidFill>
                  <a:srgbClr val="F59E0B"/>
                </a:solidFill>
                <a:latin typeface="Calibri" pitchFamily="34" charset="0"/>
                <a:ea typeface="Calibri" pitchFamily="34" charset="-122"/>
                <a:cs typeface="Calibri" pitchFamily="34" charset="-120"/>
              </a:rPr>
              <a:t>Challenges</a:t>
            </a:r>
            <a:endParaRPr lang="en-US" sz="1500" dirty="0"/>
          </a:p>
        </p:txBody>
      </p:sp>
      <p:sp>
        <p:nvSpPr>
          <p:cNvPr id="9" name="Text 7"/>
          <p:cNvSpPr/>
          <p:nvPr/>
        </p:nvSpPr>
        <p:spPr>
          <a:xfrm>
            <a:off x="4937760" y="1600200"/>
            <a:ext cx="3566160" cy="1097280"/>
          </a:xfrm>
          <a:prstGeom prst="rect">
            <a:avLst/>
          </a:prstGeom>
          <a:noFill/>
          <a:ln/>
        </p:spPr>
        <p:txBody>
          <a:bodyPr wrap="square" rtlCol="0" anchor="t"/>
          <a:lstStyle/>
          <a:p>
            <a:pPr marL="342900" indent="-342900" algn="l">
              <a:spcAft>
                <a:spcPts val="800"/>
              </a:spcAft>
              <a:buSzPct val="100000"/>
              <a:buChar char="●"/>
            </a:pPr>
            <a:r>
              <a:rPr lang="en-US" sz="1200" dirty="0">
                <a:solidFill>
                  <a:srgbClr val="475569"/>
                </a:solidFill>
                <a:latin typeface="Calibri" pitchFamily="34" charset="0"/>
                <a:ea typeface="Calibri" pitchFamily="34" charset="-122"/>
                <a:cs typeface="Calibri" pitchFamily="34" charset="-120"/>
              </a:rPr>
              <a:t>Required frequent communication</a:t>
            </a:r>
            <a:endParaRPr lang="en-US" sz="1200" dirty="0"/>
          </a:p>
          <a:p>
            <a:pPr marL="342900" indent="-342900" algn="l">
              <a:spcAft>
                <a:spcPts val="800"/>
              </a:spcAft>
              <a:buSzPct val="100000"/>
              <a:buChar char="●"/>
            </a:pPr>
            <a:r>
              <a:rPr lang="en-US" sz="1200" dirty="0">
                <a:solidFill>
                  <a:srgbClr val="475569"/>
                </a:solidFill>
                <a:latin typeface="Calibri" pitchFamily="34" charset="0"/>
                <a:ea typeface="Calibri" pitchFamily="34" charset="-122"/>
                <a:cs typeface="Calibri" pitchFamily="34" charset="-120"/>
              </a:rPr>
              <a:t>Relied on active stakeholder involvement</a:t>
            </a:r>
            <a:endParaRPr lang="en-US" sz="1200" dirty="0"/>
          </a:p>
        </p:txBody>
      </p:sp>
      <p:sp>
        <p:nvSpPr>
          <p:cNvPr id="10" name="Shape 8"/>
          <p:cNvSpPr/>
          <p:nvPr/>
        </p:nvSpPr>
        <p:spPr>
          <a:xfrm>
            <a:off x="4754880" y="3108960"/>
            <a:ext cx="3931920" cy="914400"/>
          </a:xfrm>
          <a:prstGeom prst="roundRect">
            <a:avLst>
              <a:gd name="adj" fmla="val 5000"/>
            </a:avLst>
          </a:prstGeom>
          <a:solidFill>
            <a:srgbClr val="EFF6FF"/>
          </a:solidFill>
          <a:ln/>
          <a:effectLst>
            <a:outerShdw blurRad="76200" dist="25400" dir="8100000" algn="bl" rotWithShape="0">
              <a:srgbClr val="000000">
                <a:alpha val="8000"/>
              </a:srgbClr>
            </a:outerShdw>
          </a:effectLst>
        </p:spPr>
        <p:txBody>
          <a:bodyPr/>
          <a:lstStyle/>
          <a:p>
            <a:endParaRPr lang="en-US" dirty="0"/>
          </a:p>
        </p:txBody>
      </p:sp>
      <p:sp>
        <p:nvSpPr>
          <p:cNvPr id="11" name="Shape 9"/>
          <p:cNvSpPr/>
          <p:nvPr/>
        </p:nvSpPr>
        <p:spPr>
          <a:xfrm>
            <a:off x="4754880" y="3108960"/>
            <a:ext cx="54864" cy="914400"/>
          </a:xfrm>
          <a:prstGeom prst="rect">
            <a:avLst/>
          </a:prstGeom>
          <a:solidFill>
            <a:srgbClr val="3B82F6"/>
          </a:solidFill>
          <a:ln/>
        </p:spPr>
        <p:txBody>
          <a:bodyPr/>
          <a:lstStyle/>
          <a:p>
            <a:endParaRPr lang="en-US"/>
          </a:p>
        </p:txBody>
      </p:sp>
      <p:sp>
        <p:nvSpPr>
          <p:cNvPr id="12" name="Text 10"/>
          <p:cNvSpPr/>
          <p:nvPr/>
        </p:nvSpPr>
        <p:spPr>
          <a:xfrm>
            <a:off x="4983480" y="3200400"/>
            <a:ext cx="3520440" cy="731520"/>
          </a:xfrm>
          <a:prstGeom prst="rect">
            <a:avLst/>
          </a:prstGeom>
          <a:noFill/>
          <a:ln/>
        </p:spPr>
        <p:txBody>
          <a:bodyPr wrap="square" rtlCol="0" anchor="ctr"/>
          <a:lstStyle/>
          <a:p>
            <a:pPr marL="0" indent="0" algn="l">
              <a:buNone/>
            </a:pPr>
            <a:r>
              <a:rPr lang="en-US" sz="1200" i="1" dirty="0">
                <a:solidFill>
                  <a:srgbClr val="1E293B"/>
                </a:solidFill>
                <a:latin typeface="Calibri" pitchFamily="34" charset="0"/>
                <a:ea typeface="Calibri" pitchFamily="34" charset="-122"/>
                <a:cs typeface="Calibri" pitchFamily="34" charset="-120"/>
              </a:rPr>
              <a:t>Agile was the preferred development methodology for the SNHU Travel project because it allowed the team to adapt to changing requirements and incorporate stakeholder feedback throughout development.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744"/>
          </a:solidFill>
          <a:ln/>
        </p:spPr>
        <p:txBody>
          <a:bodyPr/>
          <a:lstStyle/>
          <a:p>
            <a:endParaRPr lang="en-US"/>
          </a:p>
        </p:txBody>
      </p:sp>
      <p:sp>
        <p:nvSpPr>
          <p:cNvPr id="3" name="Text 1"/>
          <p:cNvSpPr/>
          <p:nvPr/>
        </p:nvSpPr>
        <p:spPr>
          <a:xfrm>
            <a:off x="548640" y="109728"/>
            <a:ext cx="8046720" cy="594360"/>
          </a:xfrm>
          <a:prstGeom prst="rect">
            <a:avLst/>
          </a:prstGeom>
          <a:noFill/>
          <a:ln/>
        </p:spPr>
        <p:txBody>
          <a:bodyPr wrap="square" lIns="0" tIns="0" rIns="0" bIns="0" rtlCol="0" anchor="ctr"/>
          <a:lstStyle/>
          <a:p>
            <a:pPr marL="0" indent="0" algn="l">
              <a:buNone/>
            </a:pPr>
            <a:r>
              <a:rPr lang="en-US" sz="2800" dirty="0">
                <a:solidFill>
                  <a:srgbClr val="FFFFFF"/>
                </a:solidFill>
                <a:latin typeface="Georgia" pitchFamily="34" charset="0"/>
                <a:ea typeface="Georgia" pitchFamily="34" charset="-122"/>
                <a:cs typeface="Georgia" pitchFamily="34" charset="-120"/>
              </a:rPr>
              <a:t>Factors to Consider</a:t>
            </a:r>
            <a:endParaRPr lang="en-US" sz="2800" dirty="0"/>
          </a:p>
        </p:txBody>
      </p:sp>
      <p:sp>
        <p:nvSpPr>
          <p:cNvPr id="4" name="Shape 2"/>
          <p:cNvSpPr/>
          <p:nvPr/>
        </p:nvSpPr>
        <p:spPr>
          <a:xfrm>
            <a:off x="640080" y="1097280"/>
            <a:ext cx="3840480" cy="475488"/>
          </a:xfrm>
          <a:prstGeom prst="roundRect">
            <a:avLst>
              <a:gd name="adj" fmla="val 7692"/>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5" name="Shape 3"/>
          <p:cNvSpPr/>
          <p:nvPr/>
        </p:nvSpPr>
        <p:spPr>
          <a:xfrm>
            <a:off x="777240" y="1266444"/>
            <a:ext cx="137160" cy="137160"/>
          </a:xfrm>
          <a:prstGeom prst="ellipse">
            <a:avLst/>
          </a:prstGeom>
          <a:solidFill>
            <a:srgbClr val="3B82F6"/>
          </a:solidFill>
          <a:ln/>
        </p:spPr>
        <p:txBody>
          <a:bodyPr/>
          <a:lstStyle/>
          <a:p>
            <a:endParaRPr lang="en-US"/>
          </a:p>
        </p:txBody>
      </p:sp>
      <p:sp>
        <p:nvSpPr>
          <p:cNvPr id="6" name="Text 4"/>
          <p:cNvSpPr/>
          <p:nvPr/>
        </p:nvSpPr>
        <p:spPr>
          <a:xfrm>
            <a:off x="1005840" y="1097280"/>
            <a:ext cx="3383280" cy="475488"/>
          </a:xfrm>
          <a:prstGeom prst="rect">
            <a:avLst/>
          </a:prstGeom>
          <a:noFill/>
          <a:ln/>
        </p:spPr>
        <p:txBody>
          <a:bodyPr wrap="square" lIns="0" tIns="0" rIns="0" bIns="0" rtlCol="0" anchor="ctr"/>
          <a:lstStyle/>
          <a:p>
            <a:pPr marL="0" indent="0" algn="l">
              <a:buNone/>
            </a:pPr>
            <a:r>
              <a:rPr lang="en-US" sz="1300" dirty="0">
                <a:solidFill>
                  <a:srgbClr val="1E293B"/>
                </a:solidFill>
                <a:latin typeface="Calibri" pitchFamily="34" charset="0"/>
                <a:ea typeface="Calibri" pitchFamily="34" charset="-122"/>
                <a:cs typeface="Calibri" pitchFamily="34" charset="-120"/>
              </a:rPr>
              <a:t>Project size and complexity</a:t>
            </a:r>
            <a:endParaRPr lang="en-US" sz="1300" dirty="0"/>
          </a:p>
        </p:txBody>
      </p:sp>
      <p:sp>
        <p:nvSpPr>
          <p:cNvPr id="7" name="Shape 5"/>
          <p:cNvSpPr/>
          <p:nvPr/>
        </p:nvSpPr>
        <p:spPr>
          <a:xfrm>
            <a:off x="4846320" y="1097280"/>
            <a:ext cx="3840480" cy="475488"/>
          </a:xfrm>
          <a:prstGeom prst="roundRect">
            <a:avLst>
              <a:gd name="adj" fmla="val 7692"/>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8" name="Shape 6"/>
          <p:cNvSpPr/>
          <p:nvPr/>
        </p:nvSpPr>
        <p:spPr>
          <a:xfrm>
            <a:off x="4983480" y="1266444"/>
            <a:ext cx="137160" cy="137160"/>
          </a:xfrm>
          <a:prstGeom prst="ellipse">
            <a:avLst/>
          </a:prstGeom>
          <a:solidFill>
            <a:srgbClr val="3B82F6"/>
          </a:solidFill>
          <a:ln/>
        </p:spPr>
        <p:txBody>
          <a:bodyPr/>
          <a:lstStyle/>
          <a:p>
            <a:endParaRPr lang="en-US"/>
          </a:p>
        </p:txBody>
      </p:sp>
      <p:sp>
        <p:nvSpPr>
          <p:cNvPr id="9" name="Text 7"/>
          <p:cNvSpPr/>
          <p:nvPr/>
        </p:nvSpPr>
        <p:spPr>
          <a:xfrm>
            <a:off x="5212080" y="1097280"/>
            <a:ext cx="3383280" cy="475488"/>
          </a:xfrm>
          <a:prstGeom prst="rect">
            <a:avLst/>
          </a:prstGeom>
          <a:noFill/>
          <a:ln/>
        </p:spPr>
        <p:txBody>
          <a:bodyPr wrap="square" lIns="0" tIns="0" rIns="0" bIns="0" rtlCol="0" anchor="ctr"/>
          <a:lstStyle/>
          <a:p>
            <a:pPr marL="0" indent="0" algn="l">
              <a:buNone/>
            </a:pPr>
            <a:r>
              <a:rPr lang="en-US" sz="1300" dirty="0">
                <a:solidFill>
                  <a:srgbClr val="1E293B"/>
                </a:solidFill>
                <a:latin typeface="Calibri" pitchFamily="34" charset="0"/>
                <a:ea typeface="Calibri" pitchFamily="34" charset="-122"/>
                <a:cs typeface="Calibri" pitchFamily="34" charset="-120"/>
              </a:rPr>
              <a:t>Requirement stability</a:t>
            </a:r>
            <a:endParaRPr lang="en-US" sz="1300" dirty="0"/>
          </a:p>
        </p:txBody>
      </p:sp>
      <p:sp>
        <p:nvSpPr>
          <p:cNvPr id="10" name="Shape 8"/>
          <p:cNvSpPr/>
          <p:nvPr/>
        </p:nvSpPr>
        <p:spPr>
          <a:xfrm>
            <a:off x="640080" y="1709928"/>
            <a:ext cx="3840480" cy="475488"/>
          </a:xfrm>
          <a:prstGeom prst="roundRect">
            <a:avLst>
              <a:gd name="adj" fmla="val 7692"/>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11" name="Shape 9"/>
          <p:cNvSpPr/>
          <p:nvPr/>
        </p:nvSpPr>
        <p:spPr>
          <a:xfrm>
            <a:off x="777240" y="1879092"/>
            <a:ext cx="137160" cy="137160"/>
          </a:xfrm>
          <a:prstGeom prst="ellipse">
            <a:avLst/>
          </a:prstGeom>
          <a:solidFill>
            <a:srgbClr val="3B82F6"/>
          </a:solidFill>
          <a:ln/>
        </p:spPr>
        <p:txBody>
          <a:bodyPr/>
          <a:lstStyle/>
          <a:p>
            <a:endParaRPr lang="en-US"/>
          </a:p>
        </p:txBody>
      </p:sp>
      <p:sp>
        <p:nvSpPr>
          <p:cNvPr id="12" name="Text 10"/>
          <p:cNvSpPr/>
          <p:nvPr/>
        </p:nvSpPr>
        <p:spPr>
          <a:xfrm>
            <a:off x="1005840" y="1709928"/>
            <a:ext cx="3383280" cy="475488"/>
          </a:xfrm>
          <a:prstGeom prst="rect">
            <a:avLst/>
          </a:prstGeom>
          <a:noFill/>
          <a:ln/>
        </p:spPr>
        <p:txBody>
          <a:bodyPr wrap="square" lIns="0" tIns="0" rIns="0" bIns="0" rtlCol="0" anchor="ctr"/>
          <a:lstStyle/>
          <a:p>
            <a:pPr marL="0" indent="0" algn="l">
              <a:buNone/>
            </a:pPr>
            <a:r>
              <a:rPr lang="en-US" sz="1300" dirty="0">
                <a:solidFill>
                  <a:srgbClr val="1E293B"/>
                </a:solidFill>
                <a:latin typeface="Calibri" pitchFamily="34" charset="0"/>
                <a:ea typeface="Calibri" pitchFamily="34" charset="-122"/>
                <a:cs typeface="Calibri" pitchFamily="34" charset="-120"/>
              </a:rPr>
              <a:t>Stakeholder involvement</a:t>
            </a:r>
            <a:endParaRPr lang="en-US" sz="1300" dirty="0"/>
          </a:p>
        </p:txBody>
      </p:sp>
      <p:sp>
        <p:nvSpPr>
          <p:cNvPr id="13" name="Shape 11"/>
          <p:cNvSpPr/>
          <p:nvPr/>
        </p:nvSpPr>
        <p:spPr>
          <a:xfrm>
            <a:off x="4846320" y="1709928"/>
            <a:ext cx="3840480" cy="475488"/>
          </a:xfrm>
          <a:prstGeom prst="roundRect">
            <a:avLst>
              <a:gd name="adj" fmla="val 7692"/>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14" name="Shape 12"/>
          <p:cNvSpPr/>
          <p:nvPr/>
        </p:nvSpPr>
        <p:spPr>
          <a:xfrm>
            <a:off x="4983480" y="1879092"/>
            <a:ext cx="137160" cy="137160"/>
          </a:xfrm>
          <a:prstGeom prst="ellipse">
            <a:avLst/>
          </a:prstGeom>
          <a:solidFill>
            <a:srgbClr val="3B82F6"/>
          </a:solidFill>
          <a:ln/>
        </p:spPr>
        <p:txBody>
          <a:bodyPr/>
          <a:lstStyle/>
          <a:p>
            <a:endParaRPr lang="en-US"/>
          </a:p>
        </p:txBody>
      </p:sp>
      <p:sp>
        <p:nvSpPr>
          <p:cNvPr id="15" name="Text 13"/>
          <p:cNvSpPr/>
          <p:nvPr/>
        </p:nvSpPr>
        <p:spPr>
          <a:xfrm>
            <a:off x="5212080" y="1709928"/>
            <a:ext cx="3383280" cy="475488"/>
          </a:xfrm>
          <a:prstGeom prst="rect">
            <a:avLst/>
          </a:prstGeom>
          <a:noFill/>
          <a:ln/>
        </p:spPr>
        <p:txBody>
          <a:bodyPr wrap="square" lIns="0" tIns="0" rIns="0" bIns="0" rtlCol="0" anchor="ctr"/>
          <a:lstStyle/>
          <a:p>
            <a:pPr marL="0" indent="0" algn="l">
              <a:buNone/>
            </a:pPr>
            <a:r>
              <a:rPr lang="en-US" sz="1300" dirty="0">
                <a:solidFill>
                  <a:srgbClr val="1E293B"/>
                </a:solidFill>
                <a:latin typeface="Calibri" pitchFamily="34" charset="0"/>
                <a:ea typeface="Calibri" pitchFamily="34" charset="-122"/>
                <a:cs typeface="Calibri" pitchFamily="34" charset="-120"/>
              </a:rPr>
              <a:t>Timeline constraints</a:t>
            </a:r>
            <a:endParaRPr lang="en-US" sz="1300" dirty="0"/>
          </a:p>
        </p:txBody>
      </p:sp>
      <p:sp>
        <p:nvSpPr>
          <p:cNvPr id="16" name="Shape 14"/>
          <p:cNvSpPr/>
          <p:nvPr/>
        </p:nvSpPr>
        <p:spPr>
          <a:xfrm>
            <a:off x="640080" y="2322576"/>
            <a:ext cx="3840480" cy="475488"/>
          </a:xfrm>
          <a:prstGeom prst="roundRect">
            <a:avLst>
              <a:gd name="adj" fmla="val 7692"/>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17" name="Shape 15"/>
          <p:cNvSpPr/>
          <p:nvPr/>
        </p:nvSpPr>
        <p:spPr>
          <a:xfrm>
            <a:off x="777240" y="2491740"/>
            <a:ext cx="137160" cy="137160"/>
          </a:xfrm>
          <a:prstGeom prst="ellipse">
            <a:avLst/>
          </a:prstGeom>
          <a:solidFill>
            <a:srgbClr val="3B82F6"/>
          </a:solidFill>
          <a:ln/>
        </p:spPr>
        <p:txBody>
          <a:bodyPr/>
          <a:lstStyle/>
          <a:p>
            <a:endParaRPr lang="en-US"/>
          </a:p>
        </p:txBody>
      </p:sp>
      <p:sp>
        <p:nvSpPr>
          <p:cNvPr id="18" name="Text 16"/>
          <p:cNvSpPr/>
          <p:nvPr/>
        </p:nvSpPr>
        <p:spPr>
          <a:xfrm>
            <a:off x="1005840" y="2322576"/>
            <a:ext cx="3383280" cy="475488"/>
          </a:xfrm>
          <a:prstGeom prst="rect">
            <a:avLst/>
          </a:prstGeom>
          <a:noFill/>
          <a:ln/>
        </p:spPr>
        <p:txBody>
          <a:bodyPr wrap="square" lIns="0" tIns="0" rIns="0" bIns="0" rtlCol="0" anchor="ctr"/>
          <a:lstStyle/>
          <a:p>
            <a:pPr marL="0" indent="0" algn="l">
              <a:buNone/>
            </a:pPr>
            <a:r>
              <a:rPr lang="en-US" sz="1300" dirty="0">
                <a:solidFill>
                  <a:srgbClr val="1E293B"/>
                </a:solidFill>
                <a:latin typeface="Calibri" pitchFamily="34" charset="0"/>
                <a:ea typeface="Calibri" pitchFamily="34" charset="-122"/>
                <a:cs typeface="Calibri" pitchFamily="34" charset="-120"/>
              </a:rPr>
              <a:t>Team experience</a:t>
            </a:r>
            <a:endParaRPr lang="en-US" sz="1300" dirty="0"/>
          </a:p>
        </p:txBody>
      </p:sp>
      <p:sp>
        <p:nvSpPr>
          <p:cNvPr id="19" name="Shape 17"/>
          <p:cNvSpPr/>
          <p:nvPr/>
        </p:nvSpPr>
        <p:spPr>
          <a:xfrm>
            <a:off x="4846320" y="2322576"/>
            <a:ext cx="3840480" cy="475488"/>
          </a:xfrm>
          <a:prstGeom prst="roundRect">
            <a:avLst>
              <a:gd name="adj" fmla="val 7692"/>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20" name="Shape 18"/>
          <p:cNvSpPr/>
          <p:nvPr/>
        </p:nvSpPr>
        <p:spPr>
          <a:xfrm>
            <a:off x="4983480" y="2491740"/>
            <a:ext cx="137160" cy="137160"/>
          </a:xfrm>
          <a:prstGeom prst="ellipse">
            <a:avLst/>
          </a:prstGeom>
          <a:solidFill>
            <a:srgbClr val="3B82F6"/>
          </a:solidFill>
          <a:ln/>
        </p:spPr>
        <p:txBody>
          <a:bodyPr/>
          <a:lstStyle/>
          <a:p>
            <a:endParaRPr lang="en-US"/>
          </a:p>
        </p:txBody>
      </p:sp>
      <p:sp>
        <p:nvSpPr>
          <p:cNvPr id="21" name="Text 19"/>
          <p:cNvSpPr/>
          <p:nvPr/>
        </p:nvSpPr>
        <p:spPr>
          <a:xfrm>
            <a:off x="5212080" y="2322576"/>
            <a:ext cx="3383280" cy="475488"/>
          </a:xfrm>
          <a:prstGeom prst="rect">
            <a:avLst/>
          </a:prstGeom>
          <a:noFill/>
          <a:ln/>
        </p:spPr>
        <p:txBody>
          <a:bodyPr wrap="square" lIns="0" tIns="0" rIns="0" bIns="0" rtlCol="0" anchor="ctr"/>
          <a:lstStyle/>
          <a:p>
            <a:pPr marL="0" indent="0" algn="l">
              <a:buNone/>
            </a:pPr>
            <a:r>
              <a:rPr lang="en-US" sz="1300" dirty="0">
                <a:solidFill>
                  <a:srgbClr val="1E293B"/>
                </a:solidFill>
                <a:latin typeface="Calibri" pitchFamily="34" charset="0"/>
                <a:ea typeface="Calibri" pitchFamily="34" charset="-122"/>
                <a:cs typeface="Calibri" pitchFamily="34" charset="-120"/>
              </a:rPr>
              <a:t>Risk level</a:t>
            </a:r>
            <a:endParaRPr lang="en-US" sz="1300" dirty="0"/>
          </a:p>
        </p:txBody>
      </p:sp>
      <p:sp>
        <p:nvSpPr>
          <p:cNvPr id="22" name="Shape 20"/>
          <p:cNvSpPr/>
          <p:nvPr/>
        </p:nvSpPr>
        <p:spPr>
          <a:xfrm>
            <a:off x="640080" y="2935224"/>
            <a:ext cx="3840480" cy="475488"/>
          </a:xfrm>
          <a:prstGeom prst="roundRect">
            <a:avLst>
              <a:gd name="adj" fmla="val 7692"/>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23" name="Shape 21"/>
          <p:cNvSpPr/>
          <p:nvPr/>
        </p:nvSpPr>
        <p:spPr>
          <a:xfrm>
            <a:off x="777240" y="3104388"/>
            <a:ext cx="137160" cy="137160"/>
          </a:xfrm>
          <a:prstGeom prst="ellipse">
            <a:avLst/>
          </a:prstGeom>
          <a:solidFill>
            <a:srgbClr val="3B82F6"/>
          </a:solidFill>
          <a:ln/>
        </p:spPr>
        <p:txBody>
          <a:bodyPr/>
          <a:lstStyle/>
          <a:p>
            <a:endParaRPr lang="en-US"/>
          </a:p>
        </p:txBody>
      </p:sp>
      <p:sp>
        <p:nvSpPr>
          <p:cNvPr id="24" name="Text 22"/>
          <p:cNvSpPr/>
          <p:nvPr/>
        </p:nvSpPr>
        <p:spPr>
          <a:xfrm>
            <a:off x="1005840" y="2935224"/>
            <a:ext cx="3383280" cy="475488"/>
          </a:xfrm>
          <a:prstGeom prst="rect">
            <a:avLst/>
          </a:prstGeom>
          <a:noFill/>
          <a:ln/>
        </p:spPr>
        <p:txBody>
          <a:bodyPr wrap="square" lIns="0" tIns="0" rIns="0" bIns="0" rtlCol="0" anchor="ctr"/>
          <a:lstStyle/>
          <a:p>
            <a:pPr marL="0" indent="0" algn="l">
              <a:buNone/>
            </a:pPr>
            <a:r>
              <a:rPr lang="en-US" sz="1300" dirty="0">
                <a:solidFill>
                  <a:srgbClr val="1E293B"/>
                </a:solidFill>
                <a:latin typeface="Calibri" pitchFamily="34" charset="0"/>
                <a:ea typeface="Calibri" pitchFamily="34" charset="-122"/>
                <a:cs typeface="Calibri" pitchFamily="34" charset="-120"/>
              </a:rPr>
              <a:t>Need for flexibility</a:t>
            </a:r>
            <a:endParaRPr lang="en-US" sz="1300" dirty="0"/>
          </a:p>
        </p:txBody>
      </p:sp>
      <p:pic>
        <p:nvPicPr>
          <p:cNvPr id="25" name="Image 0" descr="icon_lightbulb.sv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0080" y="4114800"/>
            <a:ext cx="320040" cy="320040"/>
          </a:xfrm>
          <a:prstGeom prst="rect">
            <a:avLst/>
          </a:prstGeom>
        </p:spPr>
      </p:pic>
      <p:sp>
        <p:nvSpPr>
          <p:cNvPr id="26" name="Text 23"/>
          <p:cNvSpPr/>
          <p:nvPr/>
        </p:nvSpPr>
        <p:spPr>
          <a:xfrm>
            <a:off x="1051560" y="4114800"/>
            <a:ext cx="6858000" cy="320040"/>
          </a:xfrm>
          <a:prstGeom prst="rect">
            <a:avLst/>
          </a:prstGeom>
          <a:noFill/>
          <a:ln/>
        </p:spPr>
        <p:txBody>
          <a:bodyPr wrap="square" lIns="0" tIns="0" rIns="0" bIns="0" rtlCol="0" anchor="ctr"/>
          <a:lstStyle/>
          <a:p>
            <a:pPr marL="0" indent="0" algn="l">
              <a:buNone/>
            </a:pPr>
            <a:r>
              <a:rPr lang="en-US" sz="1100" i="1" dirty="0">
                <a:solidFill>
                  <a:srgbClr val="94A3B8"/>
                </a:solidFill>
                <a:latin typeface="Calibri" pitchFamily="34" charset="0"/>
                <a:ea typeface="Calibri" pitchFamily="34" charset="-122"/>
                <a:cs typeface="Calibri" pitchFamily="34" charset="-120"/>
              </a:rPr>
              <a:t>The best methodology depends on the project requirements, timeline, stakeholders, and level of flexibility needed.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B30"/>
        </a:solidFill>
        <a:effectLst/>
      </p:bgPr>
    </p:bg>
    <p:spTree>
      <p:nvGrpSpPr>
        <p:cNvPr id="1" name=""/>
        <p:cNvGrpSpPr/>
        <p:nvPr/>
      </p:nvGrpSpPr>
      <p:grpSpPr>
        <a:xfrm>
          <a:off x="0" y="0"/>
          <a:ext cx="0" cy="0"/>
          <a:chOff x="0" y="0"/>
          <a:chExt cx="0" cy="0"/>
        </a:xfrm>
      </p:grpSpPr>
      <p:sp>
        <p:nvSpPr>
          <p:cNvPr id="2" name="Shape 0"/>
          <p:cNvSpPr/>
          <p:nvPr/>
        </p:nvSpPr>
        <p:spPr>
          <a:xfrm rot="900000">
            <a:off x="-457200" y="-457200"/>
            <a:ext cx="3200400" cy="1828800"/>
          </a:xfrm>
          <a:prstGeom prst="rect">
            <a:avLst/>
          </a:prstGeom>
          <a:solidFill>
            <a:srgbClr val="3B82F6">
              <a:alpha val="10000"/>
            </a:srgbClr>
          </a:solidFill>
          <a:ln/>
        </p:spPr>
        <p:txBody>
          <a:bodyPr/>
          <a:lstStyle/>
          <a:p>
            <a:endParaRPr lang="en-US"/>
          </a:p>
        </p:txBody>
      </p:sp>
      <p:sp>
        <p:nvSpPr>
          <p:cNvPr id="3" name="Text 1"/>
          <p:cNvSpPr/>
          <p:nvPr/>
        </p:nvSpPr>
        <p:spPr>
          <a:xfrm>
            <a:off x="731520" y="365760"/>
            <a:ext cx="7680960" cy="640080"/>
          </a:xfrm>
          <a:prstGeom prst="rect">
            <a:avLst/>
          </a:prstGeom>
          <a:noFill/>
          <a:ln/>
        </p:spPr>
        <p:txBody>
          <a:bodyPr wrap="square" lIns="0" tIns="0" rIns="0" bIns="0" rtlCol="0" anchor="ctr"/>
          <a:lstStyle/>
          <a:p>
            <a:pPr marL="0" indent="0" algn="l">
              <a:buNone/>
            </a:pPr>
            <a:r>
              <a:rPr lang="en-US" sz="3000" dirty="0">
                <a:solidFill>
                  <a:srgbClr val="FFFFFF"/>
                </a:solidFill>
                <a:latin typeface="Georgia" pitchFamily="34" charset="0"/>
                <a:ea typeface="Georgia" pitchFamily="34" charset="-122"/>
                <a:cs typeface="Georgia" pitchFamily="34" charset="-120"/>
              </a:rPr>
              <a:t>References</a:t>
            </a:r>
            <a:endParaRPr lang="en-US" sz="3000" dirty="0"/>
          </a:p>
        </p:txBody>
      </p:sp>
      <p:sp>
        <p:nvSpPr>
          <p:cNvPr id="4" name="Text 2"/>
          <p:cNvSpPr/>
          <p:nvPr/>
        </p:nvSpPr>
        <p:spPr>
          <a:xfrm>
            <a:off x="731520" y="1280160"/>
            <a:ext cx="7680960" cy="3200400"/>
          </a:xfrm>
          <a:prstGeom prst="rect">
            <a:avLst/>
          </a:prstGeom>
          <a:noFill/>
          <a:ln/>
        </p:spPr>
        <p:txBody>
          <a:bodyPr wrap="square" rtlCol="0" anchor="t"/>
          <a:lstStyle/>
          <a:p>
            <a:pPr marL="0" indent="0" algn="l">
              <a:spcAft>
                <a:spcPts val="1400"/>
              </a:spcAft>
              <a:buNone/>
            </a:pPr>
            <a:r>
              <a:rPr lang="en-US" sz="1200" dirty="0">
                <a:solidFill>
                  <a:srgbClr val="94A3B8"/>
                </a:solidFill>
                <a:latin typeface="Calibri" pitchFamily="34" charset="0"/>
                <a:ea typeface="Calibri" pitchFamily="34" charset="-122"/>
                <a:cs typeface="Calibri" pitchFamily="34" charset="-120"/>
              </a:rPr>
              <a:t>Atlassian. (2025). Agile project management. https://www.atlassian.com/agile</a:t>
            </a:r>
            <a:endParaRPr lang="en-US" sz="1200" dirty="0"/>
          </a:p>
          <a:p>
            <a:pPr marL="0" indent="0" algn="l">
              <a:spcAft>
                <a:spcPts val="1400"/>
              </a:spcAft>
              <a:buNone/>
            </a:pPr>
            <a:r>
              <a:rPr lang="en-US" sz="1200" dirty="0">
                <a:solidFill>
                  <a:srgbClr val="94A3B8"/>
                </a:solidFill>
                <a:latin typeface="Calibri" pitchFamily="34" charset="0"/>
                <a:ea typeface="Calibri" pitchFamily="34" charset="-122"/>
                <a:cs typeface="Calibri" pitchFamily="34" charset="-120"/>
              </a:rPr>
              <a:t>Project Management Institute. (2021). Agile practice guide. PMI.</a:t>
            </a:r>
            <a:endParaRPr lang="en-US" sz="1200" dirty="0"/>
          </a:p>
          <a:p>
            <a:pPr marL="0" indent="0" algn="l">
              <a:spcAft>
                <a:spcPts val="1400"/>
              </a:spcAft>
              <a:buNone/>
            </a:pPr>
            <a:r>
              <a:rPr lang="en-US" sz="1200" dirty="0">
                <a:solidFill>
                  <a:srgbClr val="94A3B8"/>
                </a:solidFill>
                <a:latin typeface="Calibri" pitchFamily="34" charset="0"/>
                <a:ea typeface="Calibri" pitchFamily="34" charset="-122"/>
                <a:cs typeface="Calibri" pitchFamily="34" charset="-120"/>
              </a:rPr>
              <a:t>Schwaber, K., &amp; Sutherland, J. (2020). The Scrum Guide. https://scrumguides.org</a:t>
            </a:r>
            <a:endParaRPr lang="en-US" sz="1200" dirty="0"/>
          </a:p>
          <a:p>
            <a:pPr marL="0" indent="0" algn="l">
              <a:spcAft>
                <a:spcPts val="1400"/>
              </a:spcAft>
              <a:buNone/>
            </a:pPr>
            <a:r>
              <a:rPr lang="en-US" sz="1200" dirty="0">
                <a:solidFill>
                  <a:srgbClr val="94A3B8"/>
                </a:solidFill>
                <a:latin typeface="Calibri" pitchFamily="34" charset="0"/>
                <a:ea typeface="Calibri" pitchFamily="34" charset="-122"/>
                <a:cs typeface="Calibri" pitchFamily="34" charset="-120"/>
              </a:rPr>
              <a:t>IBM. (2024). Agile methodology. https://www.ibm.com/topics/agile-methodology</a:t>
            </a:r>
            <a:endParaRPr lang="en-US" sz="1200" dirty="0"/>
          </a:p>
        </p:txBody>
      </p:sp>
      <p:sp>
        <p:nvSpPr>
          <p:cNvPr id="5" name="Text 3"/>
          <p:cNvSpPr/>
          <p:nvPr/>
        </p:nvSpPr>
        <p:spPr>
          <a:xfrm>
            <a:off x="731520" y="4572000"/>
            <a:ext cx="7680960" cy="32004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CS 250  |  Southern New Hampshire University  |  June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0A736BE-3DFF-48F0-9245-004F84AB0C63}">
  <we:reference id="3d2b7d21-fda6-4380-b3d4-39ac6c78a05c" version="1.0.1.6" store="EXCatalog" storeType="EXCatalog"/>
  <we:alternateReferences/>
  <we:properties>
    <we:property name="Office.AutoShowTaskpaneWithDocument" value="true"/>
    <we:property name="conversationId" value="&quot;00b28b3f-430e-4ad5-b4dd-4e62a372f4a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TotalTime>
  <Words>680</Words>
  <Application>Microsoft Office PowerPoint</Application>
  <PresentationFormat>On-screen Show (16:9)</PresentationFormat>
  <Paragraphs>114</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Agile Methodologies and Software Development</dc:title>
  <dc:subject>PptxGenJS Presentation</dc:subject>
  <dc:creator>Kenny Nobrega</dc:creator>
  <cp:lastModifiedBy>Kenny Nobrega</cp:lastModifiedBy>
  <cp:revision>1</cp:revision>
  <dcterms:created xsi:type="dcterms:W3CDTF">2026-06-22T00:04:02Z</dcterms:created>
  <dcterms:modified xsi:type="dcterms:W3CDTF">2026-06-22T00:34:50Z</dcterms:modified>
</cp:coreProperties>
</file>